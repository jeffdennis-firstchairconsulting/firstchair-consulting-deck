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6F7F5"/>
            </a:solidFill>
            <a:effectLst/>
          </c:spPr>
          <c:invertIfNegative val="0"/>
          <c:dLbls>
            <c:delete val="1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2.3</c:v>
                </c:pt>
                <c:pt idx="2">
                  <c:v>3.9</c:v>
                </c:pt>
                <c:pt idx="3">
                  <c:v>4.1000000000000005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E2A47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4.1000000000000005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2.3</c:v>
                </c:pt>
                <c:pt idx="1">
                  <c:v>1.6</c:v>
                </c:pt>
                <c:pt idx="2">
                  <c:v>0.5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0.0;-0.0;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Lease</c:v>
                  </c:pt>
                  <c:pt idx="1">
                    <c:v>Labour</c:v>
                  </c:pt>
                  <c:pt idx="2">
                    <c:v>Overhead</c:v>
                  </c:pt>
                  <c:pt idx="3">
                    <c:v>Fuel</c:v>
                  </c:pt>
                  <c:pt idx="4">
                    <c:v>Net saving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0.3</c:v>
                </c:pt>
                <c:pt idx="4">
                  <c:v>0</c:v>
                </c:pt>
              </c:numCache>
            </c:numRef>
          </c:val>
        </c:ser>
        <c:dLbls>
          <c:numFmt formatCode="0.0;-0.0;;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5A6B7B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BE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7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A6B7B"/>
                    </a:solidFill>
                    <a:latin typeface="Calibri"/>
                  </a:rPr>
                  <a:t>$M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7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answer. The provenance line is what buys the room's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deck on one slide. A reader may stop here; nothing below should surprise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pattern land: six quarters, not a blip. The three rows at the bottom are the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Pre-empts 'whose fault': nobody's. The Carver loss is public knowledge on the 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 is Easton's weak criterion: the yard entrance. Say it before the NED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17 are rural. Name them in backup; offer the later cut-off to the 62.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Fuel is the only cost that rises. It is included, not hidden.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sequence is the risk control: nothing closes until the pilot holds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fourth beat. A risk without an owner reads as a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Small, concrete, sayable-yes-to in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Backup: how the conclusion was reached, and detail for whoever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for the CFO.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0"/>
            <a:ext cx="3392424" cy="68580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8732520" y="0"/>
            <a:ext cx="6400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50392" y="1097280"/>
            <a:ext cx="7306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8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AND RECOMMENDATION · HALVARD FREIGHT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" y="1517904"/>
            <a:ext cx="7315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0392" y="1920240"/>
            <a:ext cx="7306056" cy="163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depots do</a:t>
            </a:r>
            <a:endParaRPr lang="en-US" sz="52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 of nine.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788664"/>
            <a:ext cx="7306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them have run below 40% utilisation for six quarters, and Oakmont's lease renews in March at a 12% step-up.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5715000"/>
            <a:ext cx="7306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the FY25 depot P&amp;L, the route model v3 and operator interviews from Aug 2026. All figures fictional.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208008" y="484632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for discussion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208008" y="5212080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Consolidating three depots saves $4.1M a year for a one-time cost of $2.6M, with next-day coverage held for 99.2% of customers.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67512" y="2432304"/>
            <a:ext cx="10853928" cy="78638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432304"/>
            <a:ext cx="82296" cy="7863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24712" y="2432304"/>
            <a:ext cx="10030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Consolidating three depots saves $4.1M a year for a one-time cost of $2.6M, with next-day coverage held for 99.2% of customers.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3438144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3474720"/>
            <a:ext cx="10287000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carry $5.2M of fixed cost for 14% of network volume.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85876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895344"/>
            <a:ext cx="10287000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volume fits inside Easton and Fairmont with 18% headroom, and next-day coverage holds for 99.2% of customers.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4279392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315968"/>
            <a:ext cx="10287000" cy="239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is $4.1M a year net, for a one-time cost of $2.6M, with payback inside eight months.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7512" y="5090160"/>
            <a:ext cx="5289804" cy="96316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5090160"/>
            <a:ext cx="82296" cy="963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544" y="5334000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0" descr="/home/claude/skills/firstchair-consulting-deck/assets/icons/white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151" y="5438607"/>
            <a:ext cx="266273" cy="26627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581912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NEEDED   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1581912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approvals to start in November.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31636" y="5090160"/>
            <a:ext cx="5289804" cy="9631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31636" y="5090160"/>
            <a:ext cx="82296" cy="963168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2" name="Shape 19"/>
          <p:cNvSpPr/>
          <p:nvPr/>
        </p:nvSpPr>
        <p:spPr>
          <a:xfrm>
            <a:off x="6487668" y="5334000"/>
            <a:ext cx="475488" cy="475488"/>
          </a:xfrm>
          <a:prstGeom prst="ellipse">
            <a:avLst/>
          </a:prstGeom>
          <a:solidFill>
            <a:srgbClr val="0E2A47"/>
          </a:solidFill>
          <a:ln/>
        </p:spPr>
      </p:sp>
      <p:pic>
        <p:nvPicPr>
          <p:cNvPr id="23" name="Image 1" descr="/home/claude/skills/firstchair-consulting-deck/assets/icons/white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275" y="5438607"/>
            <a:ext cx="266273" cy="26627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7146036" y="5199888"/>
            <a:ext cx="41925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RISK   </a:t>
            </a:r>
            <a:pPr indent="0" marL="0">
              <a:buNone/>
            </a:pP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7146036" y="5474208"/>
            <a:ext cx="4192524" cy="505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consultation at Ridgeway extends beyond four months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TODAY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depots have run below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 utilisation for six quarters.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 hours used over dock hours available, by quarter.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044952" y="263347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25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457700" y="263347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25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870448" y="263347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25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7283196" y="263347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25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95944" y="263347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26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108692" y="263347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26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2996619"/>
            <a:ext cx="2267712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072384" y="3024051"/>
            <a:ext cx="1357884" cy="308283"/>
          </a:xfrm>
          <a:prstGeom prst="rect">
            <a:avLst/>
          </a:prstGeom>
          <a:solidFill>
            <a:srgbClr val="2E486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44952" y="299661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485132" y="3024051"/>
            <a:ext cx="1357884" cy="308283"/>
          </a:xfrm>
          <a:prstGeom prst="rect">
            <a:avLst/>
          </a:prstGeom>
          <a:solidFill>
            <a:srgbClr val="233E5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57700" y="299661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897880" y="3024051"/>
            <a:ext cx="1357884" cy="308283"/>
          </a:xfrm>
          <a:prstGeom prst="rect">
            <a:avLst/>
          </a:prstGeom>
          <a:solidFill>
            <a:srgbClr val="19344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870448" y="299661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0628" y="3024051"/>
            <a:ext cx="1357884" cy="308283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283196" y="299661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723376" y="3024051"/>
            <a:ext cx="1357884" cy="308283"/>
          </a:xfrm>
          <a:prstGeom prst="rect">
            <a:avLst/>
          </a:prstGeom>
          <a:solidFill>
            <a:srgbClr val="1E395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95944" y="299661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36124" y="3024051"/>
            <a:ext cx="1357884" cy="308283"/>
          </a:xfrm>
          <a:prstGeom prst="rect">
            <a:avLst/>
          </a:prstGeom>
          <a:solidFill>
            <a:srgbClr val="132F4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108692" y="299661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67512" y="3359767"/>
            <a:ext cx="2267712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072384" y="3387199"/>
            <a:ext cx="1357884" cy="308283"/>
          </a:xfrm>
          <a:prstGeom prst="rect">
            <a:avLst/>
          </a:prstGeom>
          <a:solidFill>
            <a:srgbClr val="536A7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044952" y="335976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85132" y="3387199"/>
            <a:ext cx="1357884" cy="308283"/>
          </a:xfrm>
          <a:prstGeom prst="rect">
            <a:avLst/>
          </a:prstGeom>
          <a:solidFill>
            <a:srgbClr val="435B7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457700" y="335976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897880" y="3387199"/>
            <a:ext cx="1357884" cy="308283"/>
          </a:xfrm>
          <a:prstGeom prst="rect">
            <a:avLst/>
          </a:prstGeom>
          <a:solidFill>
            <a:srgbClr val="39516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870448" y="335976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310628" y="3387199"/>
            <a:ext cx="1357884" cy="308283"/>
          </a:xfrm>
          <a:prstGeom prst="rect">
            <a:avLst/>
          </a:prstGeom>
          <a:solidFill>
            <a:srgbClr val="2E486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283196" y="335976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723376" y="3387199"/>
            <a:ext cx="1357884" cy="308283"/>
          </a:xfrm>
          <a:prstGeom prst="rect">
            <a:avLst/>
          </a:prstGeom>
          <a:solidFill>
            <a:srgbClr val="39516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95944" y="335976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0136124" y="3387199"/>
            <a:ext cx="1357884" cy="308283"/>
          </a:xfrm>
          <a:prstGeom prst="rect">
            <a:avLst/>
          </a:prstGeom>
          <a:solidFill>
            <a:srgbClr val="334C64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10108692" y="335976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667512" y="3722914"/>
            <a:ext cx="2267712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Carlton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072384" y="3750346"/>
            <a:ext cx="1357884" cy="308283"/>
          </a:xfrm>
          <a:prstGeom prst="rect">
            <a:avLst/>
          </a:prstGeom>
          <a:solidFill>
            <a:srgbClr val="738895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044952" y="3722914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485132" y="3750346"/>
            <a:ext cx="1357884" cy="308283"/>
          </a:xfrm>
          <a:prstGeom prst="rect">
            <a:avLst/>
          </a:prstGeom>
          <a:solidFill>
            <a:srgbClr val="798D9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457700" y="3722914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5897880" y="3750346"/>
            <a:ext cx="1357884" cy="308283"/>
          </a:xfrm>
          <a:prstGeom prst="rect">
            <a:avLst/>
          </a:prstGeom>
          <a:solidFill>
            <a:srgbClr val="637989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870448" y="3722914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7310628" y="3750346"/>
            <a:ext cx="1357884" cy="308283"/>
          </a:xfrm>
          <a:prstGeom prst="rect">
            <a:avLst/>
          </a:prstGeom>
          <a:solidFill>
            <a:srgbClr val="697E8D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283196" y="3722914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8723376" y="3750346"/>
            <a:ext cx="1357884" cy="308283"/>
          </a:xfrm>
          <a:prstGeom prst="rect">
            <a:avLst/>
          </a:prstGeom>
          <a:solidFill>
            <a:srgbClr val="6E839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695944" y="3722914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10136124" y="3750346"/>
            <a:ext cx="1357884" cy="308283"/>
          </a:xfrm>
          <a:prstGeom prst="rect">
            <a:avLst/>
          </a:prstGeom>
          <a:solidFill>
            <a:srgbClr val="5E748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108692" y="3722914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150" dirty="0"/>
          </a:p>
        </p:txBody>
      </p:sp>
      <p:sp>
        <p:nvSpPr>
          <p:cNvPr id="51" name="Text 49"/>
          <p:cNvSpPr txBox="1"/>
          <p:nvPr/>
        </p:nvSpPr>
        <p:spPr>
          <a:xfrm>
            <a:off x="667512" y="4086062"/>
            <a:ext cx="2267712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3072384" y="4113494"/>
            <a:ext cx="1357884" cy="308283"/>
          </a:xfrm>
          <a:prstGeom prst="rect">
            <a:avLst/>
          </a:prstGeom>
          <a:solidFill>
            <a:srgbClr val="AEBEC3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044952" y="408606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4485132" y="4113494"/>
            <a:ext cx="1357884" cy="308283"/>
          </a:xfrm>
          <a:prstGeom prst="rect">
            <a:avLst/>
          </a:prstGeom>
          <a:solidFill>
            <a:srgbClr val="BECDC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457700" y="408606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5897880" y="4113494"/>
            <a:ext cx="1357884" cy="308283"/>
          </a:xfrm>
          <a:prstGeom prst="rect">
            <a:avLst/>
          </a:prstGeom>
          <a:solidFill>
            <a:srgbClr val="CEDBDC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5870448" y="408606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7310628" y="4113494"/>
            <a:ext cx="1357884" cy="308283"/>
          </a:xfrm>
          <a:prstGeom prst="rect">
            <a:avLst/>
          </a:prstGeom>
          <a:solidFill>
            <a:srgbClr val="D8E5E4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283196" y="408606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723376" y="4113494"/>
            <a:ext cx="1357884" cy="308283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695944" y="408606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10136124" y="4113494"/>
            <a:ext cx="1357884" cy="308283"/>
          </a:xfrm>
          <a:prstGeom prst="rect">
            <a:avLst/>
          </a:prstGeom>
          <a:solidFill>
            <a:srgbClr val="DEEAE8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0108692" y="4086062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667512" y="4449209"/>
            <a:ext cx="2267712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Brookline</a:t>
            </a:r>
            <a:endParaRPr lang="en-US" sz="1250" dirty="0"/>
          </a:p>
        </p:txBody>
      </p:sp>
      <p:sp>
        <p:nvSpPr>
          <p:cNvPr id="65" name="Shape 63"/>
          <p:cNvSpPr/>
          <p:nvPr/>
        </p:nvSpPr>
        <p:spPr>
          <a:xfrm>
            <a:off x="3072384" y="4476641"/>
            <a:ext cx="1357884" cy="308283"/>
          </a:xfrm>
          <a:prstGeom prst="rect">
            <a:avLst/>
          </a:prstGeom>
          <a:solidFill>
            <a:srgbClr val="B3C3C7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3044952" y="444920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4485132" y="4476641"/>
            <a:ext cx="1357884" cy="308283"/>
          </a:xfrm>
          <a:prstGeom prst="rect">
            <a:avLst/>
          </a:prstGeom>
          <a:solidFill>
            <a:srgbClr val="B8C8CB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457700" y="444920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5897880" y="4476641"/>
            <a:ext cx="1357884" cy="308283"/>
          </a:xfrm>
          <a:prstGeom prst="rect">
            <a:avLst/>
          </a:prstGeom>
          <a:solidFill>
            <a:srgbClr val="C3D1D3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5870448" y="444920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7310628" y="4476641"/>
            <a:ext cx="1357884" cy="308283"/>
          </a:xfrm>
          <a:prstGeom prst="rect">
            <a:avLst/>
          </a:prstGeom>
          <a:solidFill>
            <a:srgbClr val="C8D6D7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7283196" y="444920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8723376" y="4476641"/>
            <a:ext cx="1357884" cy="308283"/>
          </a:xfrm>
          <a:prstGeom prst="rect">
            <a:avLst/>
          </a:prstGeom>
          <a:solidFill>
            <a:srgbClr val="D3E0E0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8695944" y="444920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10136124" y="4476641"/>
            <a:ext cx="1357884" cy="308283"/>
          </a:xfrm>
          <a:prstGeom prst="rect">
            <a:avLst/>
          </a:prstGeom>
          <a:solidFill>
            <a:srgbClr val="CEDBDC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10108692" y="4449209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50" dirty="0"/>
          </a:p>
        </p:txBody>
      </p:sp>
      <p:sp>
        <p:nvSpPr>
          <p:cNvPr id="77" name="Text 75"/>
          <p:cNvSpPr txBox="1"/>
          <p:nvPr/>
        </p:nvSpPr>
        <p:spPr>
          <a:xfrm>
            <a:off x="667512" y="4812357"/>
            <a:ext cx="2267712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</a:t>
            </a:r>
            <a:endParaRPr lang="en-US" sz="1250" dirty="0"/>
          </a:p>
        </p:txBody>
      </p:sp>
      <p:sp>
        <p:nvSpPr>
          <p:cNvPr id="78" name="Shape 76"/>
          <p:cNvSpPr/>
          <p:nvPr/>
        </p:nvSpPr>
        <p:spPr>
          <a:xfrm>
            <a:off x="3072384" y="4839789"/>
            <a:ext cx="1357884" cy="308283"/>
          </a:xfrm>
          <a:prstGeom prst="rect">
            <a:avLst/>
          </a:prstGeom>
          <a:solidFill>
            <a:srgbClr val="A8B9BF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3044952" y="481235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150" dirty="0"/>
          </a:p>
        </p:txBody>
      </p:sp>
      <p:sp>
        <p:nvSpPr>
          <p:cNvPr id="80" name="Shape 78"/>
          <p:cNvSpPr/>
          <p:nvPr/>
        </p:nvSpPr>
        <p:spPr>
          <a:xfrm>
            <a:off x="4485132" y="4839789"/>
            <a:ext cx="1357884" cy="308283"/>
          </a:xfrm>
          <a:prstGeom prst="rect">
            <a:avLst/>
          </a:prstGeom>
          <a:solidFill>
            <a:srgbClr val="AEBEC3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4457700" y="481235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150" dirty="0"/>
          </a:p>
        </p:txBody>
      </p:sp>
      <p:sp>
        <p:nvSpPr>
          <p:cNvPr id="82" name="Shape 80"/>
          <p:cNvSpPr/>
          <p:nvPr/>
        </p:nvSpPr>
        <p:spPr>
          <a:xfrm>
            <a:off x="5897880" y="4839789"/>
            <a:ext cx="1357884" cy="308283"/>
          </a:xfrm>
          <a:prstGeom prst="rect">
            <a:avLst/>
          </a:prstGeom>
          <a:solidFill>
            <a:srgbClr val="B8C8CB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5870448" y="481235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150" dirty="0"/>
          </a:p>
        </p:txBody>
      </p:sp>
      <p:sp>
        <p:nvSpPr>
          <p:cNvPr id="84" name="Shape 82"/>
          <p:cNvSpPr/>
          <p:nvPr/>
        </p:nvSpPr>
        <p:spPr>
          <a:xfrm>
            <a:off x="7310628" y="4839789"/>
            <a:ext cx="1357884" cy="308283"/>
          </a:xfrm>
          <a:prstGeom prst="rect">
            <a:avLst/>
          </a:prstGeom>
          <a:solidFill>
            <a:srgbClr val="C3D1D3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7283196" y="481235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150" dirty="0"/>
          </a:p>
        </p:txBody>
      </p:sp>
      <p:sp>
        <p:nvSpPr>
          <p:cNvPr id="86" name="Shape 84"/>
          <p:cNvSpPr/>
          <p:nvPr/>
        </p:nvSpPr>
        <p:spPr>
          <a:xfrm>
            <a:off x="8723376" y="4839789"/>
            <a:ext cx="1357884" cy="308283"/>
          </a:xfrm>
          <a:prstGeom prst="rect">
            <a:avLst/>
          </a:prstGeom>
          <a:solidFill>
            <a:srgbClr val="C8D6D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8695944" y="481235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50" dirty="0"/>
          </a:p>
        </p:txBody>
      </p:sp>
      <p:sp>
        <p:nvSpPr>
          <p:cNvPr id="88" name="Shape 86"/>
          <p:cNvSpPr/>
          <p:nvPr/>
        </p:nvSpPr>
        <p:spPr>
          <a:xfrm>
            <a:off x="10136124" y="4839789"/>
            <a:ext cx="1357884" cy="308283"/>
          </a:xfrm>
          <a:prstGeom prst="rect">
            <a:avLst/>
          </a:prstGeom>
          <a:solidFill>
            <a:srgbClr val="C8D6D7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10108692" y="4812357"/>
            <a:ext cx="1412748" cy="3631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150" dirty="0"/>
          </a:p>
        </p:txBody>
      </p:sp>
      <p:sp>
        <p:nvSpPr>
          <p:cNvPr id="90" name="Shape 88"/>
          <p:cNvSpPr/>
          <p:nvPr/>
        </p:nvSpPr>
        <p:spPr>
          <a:xfrm>
            <a:off x="667512" y="544982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91" name="Shape 89"/>
          <p:cNvSpPr/>
          <p:nvPr/>
        </p:nvSpPr>
        <p:spPr>
          <a:xfrm>
            <a:off x="667512" y="544982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1124712" y="544982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carry $5.2M of fixed cost for 14% of network volume.</a:t>
            </a:r>
            <a:endParaRPr lang="en-US" sz="1500" dirty="0"/>
          </a:p>
        </p:txBody>
      </p:sp>
      <p:sp>
        <p:nvSpPr>
          <p:cNvPr id="93" name="Text 91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operations data FY25–26 (fictional)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UTILISATION FELL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separate changes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emptied the same three depots.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three was a mistake; together they left the network one size too big.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" y="2633472"/>
            <a:ext cx="6295278" cy="1039368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2633472"/>
            <a:ext cx="82296" cy="1039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43200"/>
            <a:ext cx="538087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Carver contract ended (2024)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3003804"/>
            <a:ext cx="5380878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 lost its anchor customer.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67512" y="3800856"/>
            <a:ext cx="6295278" cy="1039368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3800856"/>
            <a:ext cx="82296" cy="1039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41832" y="3910584"/>
            <a:ext cx="538087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 expansion (2023)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4171188"/>
            <a:ext cx="5380878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dock capacity 41 miles from Brookline.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7512" y="4968240"/>
            <a:ext cx="6295278" cy="1039368"/>
          </a:xfrm>
          <a:prstGeom prst="homePlate">
            <a:avLst/>
          </a:prstGeom>
          <a:solidFill>
            <a:srgbClr val="FFFFFF"/>
          </a:solidFill>
          <a:ln w="9525">
            <a:solidFill>
              <a:srgbClr val="D5DB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4968240"/>
            <a:ext cx="82296" cy="1039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41832" y="5077968"/>
            <a:ext cx="538087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 mix shift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41832" y="5338572"/>
            <a:ext cx="5380878" cy="61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consignments consolidate better at larger sites.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602870" y="2633472"/>
            <a:ext cx="3918570" cy="3374136"/>
          </a:xfrm>
          <a:prstGeom prst="rect">
            <a:avLst/>
          </a:prstGeom>
          <a:solidFill>
            <a:srgbClr val="0E2A47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02870" y="2633472"/>
            <a:ext cx="3918570" cy="8229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831470" y="2935224"/>
            <a:ext cx="346137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831470" y="3246120"/>
            <a:ext cx="346137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depots below 40%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831470" y="3660648"/>
            <a:ext cx="3461370" cy="216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$5.2M of lease and labour carrying 14% of network volume.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volume history 2022–25 (fictional)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RECEIVING SITES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Easton and Fairmont score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 on every criterion but one.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by the route model and site visits; full = strongest on that criterion.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" y="2633472"/>
            <a:ext cx="10853928" cy="39867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10712" y="2633472"/>
            <a:ext cx="1622146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capacity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032858" y="2633472"/>
            <a:ext cx="1622146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time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655003" y="2633472"/>
            <a:ext cx="1622146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Labour market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77149" y="2633472"/>
            <a:ext cx="1622146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term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899294" y="2633472"/>
            <a:ext cx="1622146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" y="3032150"/>
            <a:ext cx="10853928" cy="398678"/>
          </a:xfrm>
          <a:prstGeom prst="rect">
            <a:avLst/>
          </a:prstGeom>
          <a:solidFill>
            <a:srgbClr val="F59E0B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" y="3032150"/>
            <a:ext cx="256032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02181" y="3111886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02181" y="3111886"/>
            <a:ext cx="239207" cy="239207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24327" y="3111886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24327" y="3111886"/>
            <a:ext cx="239207" cy="239207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18" name="Shape 16"/>
          <p:cNvSpPr/>
          <p:nvPr/>
        </p:nvSpPr>
        <p:spPr>
          <a:xfrm>
            <a:off x="7346472" y="3111886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46472" y="3111886"/>
            <a:ext cx="239207" cy="239207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20" name="Shape 18"/>
          <p:cNvSpPr/>
          <p:nvPr/>
        </p:nvSpPr>
        <p:spPr>
          <a:xfrm>
            <a:off x="8968618" y="3111886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8618" y="3111886"/>
            <a:ext cx="239207" cy="239207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90764" y="3111886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90764" y="3111886"/>
            <a:ext cx="239207" cy="239207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" y="3430829"/>
            <a:ext cx="10853928" cy="398678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2104" y="3430829"/>
            <a:ext cx="256032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Fairmont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102181" y="3510564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02181" y="3510564"/>
            <a:ext cx="239207" cy="239207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28" name="Shape 26"/>
          <p:cNvSpPr/>
          <p:nvPr/>
        </p:nvSpPr>
        <p:spPr>
          <a:xfrm>
            <a:off x="5724327" y="3510564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24327" y="3510564"/>
            <a:ext cx="239207" cy="239207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30" name="Shape 28"/>
          <p:cNvSpPr/>
          <p:nvPr/>
        </p:nvSpPr>
        <p:spPr>
          <a:xfrm>
            <a:off x="7346472" y="3510564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46472" y="3510564"/>
            <a:ext cx="239207" cy="239207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8618" y="3510564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68618" y="3510564"/>
            <a:ext cx="239207" cy="239207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34" name="Shape 32"/>
          <p:cNvSpPr/>
          <p:nvPr/>
        </p:nvSpPr>
        <p:spPr>
          <a:xfrm>
            <a:off x="10590764" y="3510564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590764" y="3510564"/>
            <a:ext cx="239207" cy="239207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36" name="Shape 34"/>
          <p:cNvSpPr/>
          <p:nvPr/>
        </p:nvSpPr>
        <p:spPr>
          <a:xfrm>
            <a:off x="667512" y="3829507"/>
            <a:ext cx="10853928" cy="398678"/>
          </a:xfrm>
          <a:prstGeom prst="rect">
            <a:avLst/>
          </a:prstGeom>
          <a:solidFill>
            <a:srgbClr val="FFFFFF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" y="3829507"/>
            <a:ext cx="256032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Carlton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102181" y="3909243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02181" y="3909243"/>
            <a:ext cx="239207" cy="239207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40" name="Shape 38"/>
          <p:cNvSpPr/>
          <p:nvPr/>
        </p:nvSpPr>
        <p:spPr>
          <a:xfrm>
            <a:off x="5724327" y="3909243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24327" y="3909243"/>
            <a:ext cx="239207" cy="239207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E2A47"/>
          </a:solidFill>
          <a:ln/>
        </p:spPr>
      </p:sp>
      <p:sp>
        <p:nvSpPr>
          <p:cNvPr id="42" name="Shape 40"/>
          <p:cNvSpPr/>
          <p:nvPr/>
        </p:nvSpPr>
        <p:spPr>
          <a:xfrm>
            <a:off x="7346472" y="3909243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46472" y="3909243"/>
            <a:ext cx="239207" cy="239207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44" name="Shape 42"/>
          <p:cNvSpPr/>
          <p:nvPr/>
        </p:nvSpPr>
        <p:spPr>
          <a:xfrm>
            <a:off x="8968618" y="3909243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68618" y="3909243"/>
            <a:ext cx="239207" cy="239207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46" name="Shape 44"/>
          <p:cNvSpPr/>
          <p:nvPr/>
        </p:nvSpPr>
        <p:spPr>
          <a:xfrm>
            <a:off x="10590764" y="3909243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90764" y="3909243"/>
            <a:ext cx="239207" cy="239207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7512" y="4228186"/>
            <a:ext cx="10853928" cy="398678"/>
          </a:xfrm>
          <a:prstGeom prst="rect">
            <a:avLst/>
          </a:prstGeom>
          <a:solidFill>
            <a:srgbClr val="ECEFF1"/>
          </a:solidFill>
          <a:ln w="6350">
            <a:solidFill>
              <a:srgbClr val="D5DBE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32104" y="4228186"/>
            <a:ext cx="2560320" cy="3986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Westbrook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4102181" y="4307921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102181" y="4307921"/>
            <a:ext cx="239207" cy="239207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E2A47"/>
          </a:solidFill>
          <a:ln/>
        </p:spPr>
      </p:sp>
      <p:sp>
        <p:nvSpPr>
          <p:cNvPr id="52" name="Shape 50"/>
          <p:cNvSpPr/>
          <p:nvPr/>
        </p:nvSpPr>
        <p:spPr>
          <a:xfrm>
            <a:off x="5724327" y="4307921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724327" y="4307921"/>
            <a:ext cx="239207" cy="239207"/>
          </a:xfrm>
          <a:prstGeom prst="pie">
            <a:avLst>
              <a:gd name="adj1" fmla="val 16200000"/>
              <a:gd name="adj2" fmla="val 5400000"/>
            </a:avLst>
          </a:prstGeom>
          <a:solidFill>
            <a:srgbClr val="0E2A47"/>
          </a:solidFill>
          <a:ln/>
        </p:spPr>
      </p:sp>
      <p:sp>
        <p:nvSpPr>
          <p:cNvPr id="54" name="Shape 52"/>
          <p:cNvSpPr/>
          <p:nvPr/>
        </p:nvSpPr>
        <p:spPr>
          <a:xfrm>
            <a:off x="7346472" y="4307921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46472" y="4307921"/>
            <a:ext cx="239207" cy="239207"/>
          </a:xfrm>
          <a:prstGeom prst="pie">
            <a:avLst>
              <a:gd name="adj1" fmla="val 16200000"/>
              <a:gd name="adj2" fmla="val 21600000"/>
            </a:avLst>
          </a:prstGeom>
          <a:solidFill>
            <a:srgbClr val="0E2A47"/>
          </a:solidFill>
          <a:ln/>
        </p:spPr>
      </p:sp>
      <p:sp>
        <p:nvSpPr>
          <p:cNvPr id="56" name="Shape 54"/>
          <p:cNvSpPr/>
          <p:nvPr/>
        </p:nvSpPr>
        <p:spPr>
          <a:xfrm>
            <a:off x="8968618" y="4307921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968618" y="4307921"/>
            <a:ext cx="239207" cy="239207"/>
          </a:xfrm>
          <a:prstGeom prst="ellipse">
            <a:avLst/>
          </a:prstGeom>
          <a:solidFill>
            <a:srgbClr val="0E2A47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590764" y="4307921"/>
            <a:ext cx="239207" cy="239207"/>
          </a:xfrm>
          <a:prstGeom prst="ellipse">
            <a:avLst/>
          </a:prstGeom>
          <a:solidFill>
            <a:srgbClr val="FFFFFF"/>
          </a:solidFill>
          <a:ln w="15875">
            <a:solidFill>
              <a:srgbClr val="0E2A4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590764" y="4307921"/>
            <a:ext cx="239207" cy="239207"/>
          </a:xfrm>
          <a:prstGeom prst="pie">
            <a:avLst>
              <a:gd name="adj1" fmla="val 16200000"/>
              <a:gd name="adj2" fmla="val 10800000"/>
            </a:avLst>
          </a:prstGeom>
          <a:solidFill>
            <a:srgbClr val="0E2A4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67512" y="4718304"/>
            <a:ext cx="10853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= strongest on that criterion; empty = weakest.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67512" y="5248656"/>
            <a:ext cx="10853928" cy="78638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62" name="Shape 60"/>
          <p:cNvSpPr/>
          <p:nvPr/>
        </p:nvSpPr>
        <p:spPr>
          <a:xfrm>
            <a:off x="667512" y="5248656"/>
            <a:ext cx="82296" cy="78638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1124712" y="5248656"/>
            <a:ext cx="1003096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volume fits inside Easton and Fairmont with 18% headroom, and next-day coverage holds for 99.2% of customers.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Site assessment, Aug 2026 (fictional)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IMPACT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2,140 customers, 17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would lose next-day service.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model v3, current order book, receiving sites' drive-time windows.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7512" y="2633472"/>
            <a:ext cx="6512357" cy="7955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2633472"/>
            <a:ext cx="6512357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served by the three depots   2,140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591349" y="2633472"/>
            <a:ext cx="393009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accounts routed through Ridgeway, Brookline or Oakmont.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362163" y="3493008"/>
            <a:ext cx="5123054" cy="795528"/>
          </a:xfrm>
          <a:prstGeom prst="rect">
            <a:avLst/>
          </a:prstGeom>
          <a:solidFill>
            <a:srgbClr val="C9D6E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62163" y="3493008"/>
            <a:ext cx="512305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Re-routable within the model   2,061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591349" y="3493008"/>
            <a:ext cx="393009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within receiving sites' drive-time windows.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056815" y="4352544"/>
            <a:ext cx="3733751" cy="795528"/>
          </a:xfrm>
          <a:prstGeom prst="rect">
            <a:avLst/>
          </a:prstGeom>
          <a:solidFill>
            <a:srgbClr val="ECEF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56815" y="4352544"/>
            <a:ext cx="373375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Re-routable with a later cut-off   62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7591349" y="4352544"/>
            <a:ext cx="393009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Next-day holds with a 4pm cut-off.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51466" y="5212080"/>
            <a:ext cx="2344448" cy="7955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751466" y="5212080"/>
            <a:ext cx="234444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next-day service   17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591349" y="5212080"/>
            <a:ext cx="3930091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addresses beyond the two-hour window.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Route model v3 (fictional)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saving of $4.4M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nets to $4.1M after fuel.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run-rate after transition, $M.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76072" y="2633472"/>
          <a:ext cx="6766560" cy="249631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54112" y="2633472"/>
            <a:ext cx="3767328" cy="24963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54112" y="2633472"/>
            <a:ext cx="3767328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982712" y="2935224"/>
            <a:ext cx="3310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NOT IN THE BRIDGE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982712" y="3246120"/>
            <a:ext cx="3310128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costs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982712" y="3614928"/>
            <a:ext cx="3310128" cy="133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transition cost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inside eight months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exit penalties included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67512" y="5404104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512" y="5404104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24712" y="5404104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saving is $4.1M a year net, for a one-time cost of $2.6M, with payback inside eight months.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model v3 (fictional)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SAVING LANDS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Savings start in month four and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reach run-rate in month ten.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060448"/>
            <a:ext cx="10853928" cy="280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move before people; people move before buildings close.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98648" y="2633472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53512" y="2633472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97730" y="2633472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2594" y="2633472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96812" y="2633472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51676" y="2633472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27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95894" y="2633472"/>
            <a:ext cx="1725930" cy="36576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0758" y="2633472"/>
            <a:ext cx="161620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0" y="2633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Run-rate ($M/yr)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3108960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Re-route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07792" y="3182112"/>
            <a:ext cx="1707642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07792" y="3182112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054096" y="3182112"/>
            <a:ext cx="1488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and pilot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6874" y="3182112"/>
            <a:ext cx="1707642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6874" y="3182112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53178" y="3182112"/>
            <a:ext cx="1488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0" y="3108960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67512" y="3822192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7512" y="3822192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6874" y="3895344"/>
            <a:ext cx="3506724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6874" y="3895344"/>
            <a:ext cx="82296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53178" y="3895344"/>
            <a:ext cx="32872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Consult, transfer, hire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0" y="3822192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7512" y="4535424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" y="4535424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706874" y="4608576"/>
            <a:ext cx="1707642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6874" y="4608576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53178" y="4608576"/>
            <a:ext cx="14881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Oakmont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505956" y="4608576"/>
            <a:ext cx="3506724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05956" y="4608576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652260" y="4608576"/>
            <a:ext cx="32872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Ridgeway, Brookline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4535424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67512" y="5248656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67512" y="5248656"/>
            <a:ext cx="2057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505956" y="5321808"/>
            <a:ext cx="3506724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505956" y="5321808"/>
            <a:ext cx="82296" cy="5669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652260" y="5321808"/>
            <a:ext cx="32872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and insurance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0" y="5248656"/>
            <a:ext cx="1463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67512" y="5961888"/>
            <a:ext cx="10853928" cy="0"/>
          </a:xfrm>
          <a:prstGeom prst="line">
            <a:avLst/>
          </a:prstGeom>
          <a:noFill/>
          <a:ln w="9525">
            <a:solidFill>
              <a:srgbClr val="D5DB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Transition model v3 (fictional)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risks, each with an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 and a mitigation.</a:t>
            </a:r>
            <a:endParaRPr lang="en-US" sz="4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279904"/>
          <a:ext cx="10853928" cy="914400"/>
        </p:xfrm>
        <a:graphic>
          <a:graphicData uri="http://schemas.openxmlformats.org/drawingml/2006/table">
            <a:tbl>
              <a:tblPr/>
              <a:tblGrid>
                <a:gridCol w="3578218"/>
                <a:gridCol w="1312013"/>
                <a:gridCol w="1669835"/>
                <a:gridCol w="429386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Union consultation at Ridgeway extends beyond four months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director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informal engagement now; sequence Oakmont and Brookline first so savings begin regardless.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Easton peak-week capacity is tighter than modelled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director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 a peak week in December before committing; Fairmont takes overflow.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Brookline sublet market softens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penalty is already in the $2.6M; sublet is upside only.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approvals to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in November.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67512" y="2279904"/>
            <a:ext cx="3435096" cy="18882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67512" y="2279904"/>
            <a:ext cx="343509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96112" y="2581656"/>
            <a:ext cx="2977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892552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plan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76600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Ridgeway, Brookline and Oakmont; Easton and Fairmont receive.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76928" y="2279904"/>
            <a:ext cx="3435096" cy="18882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76928" y="2279904"/>
            <a:ext cx="343509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5528" y="2581656"/>
            <a:ext cx="2977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05528" y="2892552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$2.6M transition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605528" y="3276600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 in three tranches, one per phase.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86344" y="2279904"/>
            <a:ext cx="3435096" cy="18882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E2A47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86344" y="2279904"/>
            <a:ext cx="3435096" cy="82296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14944" y="2581656"/>
            <a:ext cx="2977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314944" y="2892552"/>
            <a:ext cx="2977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union engagement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14944" y="3276600"/>
            <a:ext cx="297789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engagement at Ridgeway from Nov 1.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7512" y="4442460"/>
            <a:ext cx="10853928" cy="603504"/>
          </a:xfrm>
          <a:prstGeom prst="rect">
            <a:avLst/>
          </a:prstGeom>
          <a:solidFill>
            <a:srgbClr val="E3EF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4442460"/>
            <a:ext cx="82296" cy="60350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24712" y="4442460"/>
            <a:ext cx="10030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these three and the first saving lands in month four.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81A2D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0"/>
            <a:ext cx="64008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377440"/>
            <a:ext cx="1371600" cy="13716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5" name="Image 0" descr="/home/claude/skills/firstchair-consulting-deck/assets/icons/white/arch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679192"/>
            <a:ext cx="768096" cy="7680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840480" y="20116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840480" y="2395728"/>
            <a:ext cx="76809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Supporting detail.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3840480" y="6455664"/>
            <a:ext cx="7068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67512" y="420624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SITES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731520"/>
            <a:ext cx="10853928" cy="1255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Oakmont is the cheapest</a:t>
            </a:r>
            <a:endParaRPr lang="en-US" sz="4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1623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exit and the first to go.</a:t>
            </a:r>
            <a:endParaRPr lang="en-US" sz="4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2279904"/>
          <a:ext cx="10853928" cy="914400"/>
        </p:xfrm>
        <a:graphic>
          <a:graphicData uri="http://schemas.openxmlformats.org/drawingml/2006/table">
            <a:tbl>
              <a:tblPr/>
              <a:tblGrid>
                <a:gridCol w="2813981"/>
                <a:gridCol w="2009987"/>
                <a:gridCol w="2009987"/>
                <a:gridCol w="2009987"/>
                <a:gridCol w="2009987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cost ($M)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 cost ($M)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 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4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 break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Brookline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FF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Oakmont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67512" y="6181344"/>
            <a:ext cx="10853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Halvard depot P&amp;L FY25; property schedule (fictional)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67512" y="645566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Halvard Freight  ·  findings and recommendation  ·  Draft — for discussion  ·  v0.3  ·  Confidential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972800" y="64556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852160" y="645566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the consulting-deck skill · First Chair Consulting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First Chair Consulting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Six depots do the work of nine</dc:title>
  <dc:subject>firstchair-consulting-deck render style=v2 brief=b31051a4639772eb ledger=423676414a5c328c storyboard=66588eb3877a0a3f</dc:subject>
  <dc:creator/>
  <cp:lastModifiedBy/>
  <cp:revision>1</cp:revision>
  <dcterms:created xsi:type="dcterms:W3CDTF">2026-09-23T19:37:30Z</dcterms:created>
  <dcterms:modified xsi:type="dcterms:W3CDTF">2026-09-23T19:37:30Z</dcterms:modified>
</cp:coreProperties>
</file>