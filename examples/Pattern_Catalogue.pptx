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2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3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4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5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General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Easton</c:v>
                  </c:pt>
                  <c:pt idx="1">
                    <c:v>Fairmont</c:v>
                  </c:pt>
                  <c:pt idx="2">
                    <c:v>Carlton</c:v>
                  </c:pt>
                  <c:pt idx="3">
                    <c:v>Westbrook</c:v>
                  </c:pt>
                  <c:pt idx="4">
                    <c:v>Hallam</c:v>
                  </c:pt>
                  <c:pt idx="5">
                    <c:v>Norcross</c:v>
                  </c:pt>
                  <c:pt idx="6">
                    <c:v>Oakmont</c:v>
                  </c:pt>
                  <c:pt idx="7">
                    <c:v>Brookline</c:v>
                  </c:pt>
                  <c:pt idx="8">
                    <c:v>Ridgeway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71</c:v>
                </c:pt>
                <c:pt idx="1">
                  <c:v>66</c:v>
                </c:pt>
                <c:pt idx="2">
                  <c:v>57</c:v>
                </c:pt>
                <c:pt idx="3">
                  <c:v>60</c:v>
                </c:pt>
                <c:pt idx="4">
                  <c:v>62</c:v>
                </c:pt>
                <c:pt idx="5">
                  <c:v>64</c:v>
                </c:pt>
                <c:pt idx="6">
                  <c:v>39</c:v>
                </c:pt>
                <c:pt idx="7">
                  <c:v>37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1 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General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Easton</c:v>
                  </c:pt>
                  <c:pt idx="1">
                    <c:v>Fairmont</c:v>
                  </c:pt>
                  <c:pt idx="2">
                    <c:v>Carlton</c:v>
                  </c:pt>
                  <c:pt idx="3">
                    <c:v>Westbrook</c:v>
                  </c:pt>
                  <c:pt idx="4">
                    <c:v>Hallam</c:v>
                  </c:pt>
                  <c:pt idx="5">
                    <c:v>Norcross</c:v>
                  </c:pt>
                  <c:pt idx="6">
                    <c:v>Oakmont</c:v>
                  </c:pt>
                  <c:pt idx="7">
                    <c:v>Brookline</c:v>
                  </c:pt>
                  <c:pt idx="8">
                    <c:v>Ridgeway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34</c:v>
                </c:pt>
              </c:numCache>
            </c:numRef>
          </c:val>
        </c:ser>
        <c:dLbls>
          <c:numFmt formatCode="General;;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A6B7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B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B7B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5A6B7B"/>
                    </a:solidFill>
                    <a:latin typeface="Calibri"/>
                  </a:rPr>
                  <a:t>% of dock hours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Lease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Ridgeway</c:v>
                  </c:pt>
                  <c:pt idx="1">
                    <c:v>Brookline</c:v>
                  </c:pt>
                  <c:pt idx="2">
                    <c:v>Oakmont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</c:v>
                </c:pt>
                <c:pt idx="1">
                  <c:v>0.8</c:v>
                </c:pt>
                <c:pt idx="2">
                  <c:v>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Labour</c:v>
                </c:pt>
              </c:strCache>
            </c:strRef>
          </c:tx>
          <c:spPr>
            <a:solidFill>
              <a:srgbClr val="0E2A4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Ridgeway</c:v>
                  </c:pt>
                  <c:pt idx="1">
                    <c:v>Brookline</c:v>
                  </c:pt>
                  <c:pt idx="2">
                    <c:v>Oakmont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</c:v>
                </c:pt>
                <c:pt idx="1">
                  <c:v>0.6</c:v>
                </c:pt>
                <c:pt idx="2">
                  <c:v>0.5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Overhead</c:v>
                </c:pt>
              </c:strCache>
            </c:strRef>
          </c:tx>
          <c:spPr>
            <a:solidFill>
              <a:srgbClr val="5A6B7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Ridgeway</c:v>
                  </c:pt>
                  <c:pt idx="1">
                    <c:v>Brookline</c:v>
                  </c:pt>
                  <c:pt idx="2">
                    <c:v>Oakmont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0.3</c:v>
                </c:pt>
                <c:pt idx="1">
                  <c:v>0.3</c:v>
                </c:pt>
                <c:pt idx="2">
                  <c:v>0.2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Fuel</c:v>
                </c:pt>
              </c:strCache>
            </c:strRef>
          </c:tx>
          <c:spPr>
            <a:solidFill>
              <a:srgbClr val="9FB3C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Ridgeway</c:v>
                  </c:pt>
                  <c:pt idx="1">
                    <c:v>Brookline</c:v>
                  </c:pt>
                  <c:pt idx="2">
                    <c:v>Oakmont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0.1</c:v>
                </c:pt>
                <c:pt idx="1">
                  <c:v>0.1</c:v>
                </c:pt>
                <c:pt idx="2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A6B7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B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B7B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5A6B7B"/>
                    </a:solidFill>
                    <a:latin typeface="Calibri"/>
                  </a:rPr>
                  <a:t>$M per year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623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Network (000 consignments)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6232E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 24</c:v>
                  </c:pt>
                  <c:pt idx="1">
                    <c:v>Q2 24</c:v>
                  </c:pt>
                  <c:pt idx="2">
                    <c:v>Q3 24</c:v>
                  </c:pt>
                  <c:pt idx="3">
                    <c:v>Q4 24</c:v>
                  </c:pt>
                  <c:pt idx="4">
                    <c:v>Q1 25</c:v>
                  </c:pt>
                  <c:pt idx="5">
                    <c:v>Q2 25</c:v>
                  </c:pt>
                  <c:pt idx="6">
                    <c:v>Q3 25</c:v>
                  </c:pt>
                  <c:pt idx="7">
                    <c:v>Q4 25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412</c:v>
                </c:pt>
                <c:pt idx="1">
                  <c:v>418</c:v>
                </c:pt>
                <c:pt idx="2">
                  <c:v>421</c:v>
                </c:pt>
                <c:pt idx="3">
                  <c:v>430</c:v>
                </c:pt>
                <c:pt idx="4">
                  <c:v>419</c:v>
                </c:pt>
                <c:pt idx="5">
                  <c:v>424</c:v>
                </c:pt>
                <c:pt idx="6">
                  <c:v>428</c:v>
                </c:pt>
                <c:pt idx="7">
                  <c:v>433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Three sites (000)</c:v>
                </c:pt>
              </c:strCache>
            </c:strRef>
          </c:tx>
          <c:spPr>
            <a:solidFill>
              <a:srgbClr val="0E2A47"/>
            </a:solidFill>
            <a:ln w="31750" cap="flat">
              <a:solidFill>
                <a:srgbClr val="0E2A47"/>
              </a:solidFill>
              <a:prstDash val="solid"/>
              <a:round/>
            </a:ln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6232E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E2A47"/>
              </a:solidFill>
              <a:ln w="9525" cap="flat">
                <a:solidFill>
                  <a:srgbClr val="0E2A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 24</c:v>
                  </c:pt>
                  <c:pt idx="1">
                    <c:v>Q2 24</c:v>
                  </c:pt>
                  <c:pt idx="2">
                    <c:v>Q3 24</c:v>
                  </c:pt>
                  <c:pt idx="3">
                    <c:v>Q4 24</c:v>
                  </c:pt>
                  <c:pt idx="4">
                    <c:v>Q1 25</c:v>
                  </c:pt>
                  <c:pt idx="5">
                    <c:v>Q2 25</c:v>
                  </c:pt>
                  <c:pt idx="6">
                    <c:v>Q3 25</c:v>
                  </c:pt>
                  <c:pt idx="7">
                    <c:v>Q4 25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78</c:v>
                </c:pt>
                <c:pt idx="1">
                  <c:v>74</c:v>
                </c:pt>
                <c:pt idx="2">
                  <c:v>69</c:v>
                </c:pt>
                <c:pt idx="3">
                  <c:v>63</c:v>
                </c:pt>
                <c:pt idx="4">
                  <c:v>61</c:v>
                </c:pt>
                <c:pt idx="5">
                  <c:v>59</c:v>
                </c:pt>
                <c:pt idx="6">
                  <c:v>58</c:v>
                </c:pt>
                <c:pt idx="7">
                  <c:v>57</c:v>
                </c:pt>
              </c:numCache>
            </c:numRef>
          </c:val>
          <c:smooth val="0"/>
        </c:ser>
        <c:dLbls>
          <c:numFmt formatCode="General" sourceLinked="0"/>
          <c:txPr>
            <a:bodyPr/>
            <a:lstStyle/>
            <a:p>
              <a:pPr>
                <a:defRPr b="1" i="0" strike="noStrike" sz="1200" u="none">
                  <a:solidFill>
                    <a:srgbClr val="16232E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A6B7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B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B7B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5A6B7B"/>
                    </a:solidFill>
                    <a:latin typeface="Calibri"/>
                  </a:rPr>
                  <a:t>000 consignments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623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6F7F5"/>
            </a:solidFill>
            <a:effectLst/>
          </c:spPr>
          <c:invertIfNegative val="0"/>
          <c:dLbls>
            <c:delete val="1"/>
          </c:dLbls>
          <c:cat>
            <c:multiLvlStrRef>
              <c:f>Sheet1!$A$2:$A$6</c:f>
              <c:multiLvlStrCache>
                <c:ptCount val="5"/>
                <c:lvl>
                  <c:pt idx="0">
                    <c:v>Lease</c:v>
                  </c:pt>
                  <c:pt idx="1">
                    <c:v>Labour</c:v>
                  </c:pt>
                  <c:pt idx="2">
                    <c:v>Overhead</c:v>
                  </c:pt>
                  <c:pt idx="3">
                    <c:v>Fuel</c:v>
                  </c:pt>
                  <c:pt idx="4">
                    <c:v>Net saving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2.3</c:v>
                </c:pt>
                <c:pt idx="2">
                  <c:v>3.9</c:v>
                </c:pt>
                <c:pt idx="3">
                  <c:v>4.1000000000000005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E2A47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Lease</c:v>
                  </c:pt>
                  <c:pt idx="1">
                    <c:v>Labour</c:v>
                  </c:pt>
                  <c:pt idx="2">
                    <c:v>Overhead</c:v>
                  </c:pt>
                  <c:pt idx="3">
                    <c:v>Fuel</c:v>
                  </c:pt>
                  <c:pt idx="4">
                    <c:v>Net saving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4.1000000000000005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Lease</c:v>
                  </c:pt>
                  <c:pt idx="1">
                    <c:v>Labour</c:v>
                  </c:pt>
                  <c:pt idx="2">
                    <c:v>Overhead</c:v>
                  </c:pt>
                  <c:pt idx="3">
                    <c:v>Fuel</c:v>
                  </c:pt>
                  <c:pt idx="4">
                    <c:v>Net saving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2.3</c:v>
                </c:pt>
                <c:pt idx="1">
                  <c:v>1.6</c:v>
                </c:pt>
                <c:pt idx="2">
                  <c:v>0.5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Lease</c:v>
                  </c:pt>
                  <c:pt idx="1">
                    <c:v>Labour</c:v>
                  </c:pt>
                  <c:pt idx="2">
                    <c:v>Overhead</c:v>
                  </c:pt>
                  <c:pt idx="3">
                    <c:v>Fuel</c:v>
                  </c:pt>
                  <c:pt idx="4">
                    <c:v>Net saving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0.3</c:v>
                </c:pt>
                <c:pt idx="4">
                  <c:v>0</c:v>
                </c:pt>
              </c:numCache>
            </c:numRef>
          </c:val>
        </c:ser>
        <c:dLbls>
          <c:numFmt formatCode="0.0;-0.0;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A6B7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B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B7B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5A6B7B"/>
                    </a:solidFill>
                    <a:latin typeface="Calibri"/>
                  </a:rPr>
                  <a:t>$M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32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232E"/>
                </a:solidFill>
                <a:latin typeface="Calibri"/>
              </a:rPr>
              <a:t>Cost per consignment ($) by utilisation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Curve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30%</c:v>
                  </c:pt>
                  <c:pt idx="1">
                    <c:v>40%</c:v>
                  </c:pt>
                  <c:pt idx="2">
                    <c:v>50%</c:v>
                  </c:pt>
                  <c:pt idx="3">
                    <c:v>60%</c:v>
                  </c:pt>
                  <c:pt idx="4">
                    <c:v>70%</c:v>
                  </c:pt>
                  <c:pt idx="5">
                    <c:v>80%</c:v>
                  </c:pt>
                  <c:pt idx="6">
                    <c:v>90%</c:v>
                  </c:pt>
                  <c:pt idx="7">
                    <c:v>100%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9.8</c:v>
                </c:pt>
                <c:pt idx="1">
                  <c:v>8.1</c:v>
                </c:pt>
                <c:pt idx="2">
                  <c:v>7</c:v>
                </c:pt>
                <c:pt idx="3">
                  <c:v>6.3</c:v>
                </c:pt>
                <c:pt idx="4">
                  <c:v>5.9</c:v>
                </c:pt>
                <c:pt idx="5">
                  <c:v>5.8</c:v>
                </c:pt>
                <c:pt idx="6">
                  <c:v>6.4</c:v>
                </c:pt>
                <c:pt idx="7">
                  <c:v>7.9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Title: split layout, optional figure rail (up to three, each audited like any figure).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deck on one slide. A reader may stop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with the current section marked.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divider: number, section title, the section's one-line answer, progress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Cards size to their content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variant of cards, with icons. Use sparingly: one dark content slide in five at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quote slide: one voice, sized to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carrying the section's key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Phases with a constant and rotating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Chevrons for a sequence without people attached.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Staircase for stages that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Causes converging on one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Funnel with attrition at each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Logic tree: decomposition without leaves.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Driver tree with trend arrows on the leaves.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Hypothesis tree with evidence under each branch.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 table with a highlight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Harvey-ball scorecard.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Traffic-light scorecard: colour plus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Heatmap: value in every cell.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Column chart with the navy commentary panel; one highlighted bar in amber.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Stacked column, multi-series.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Two-line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Waterfall as a native stacked column with an invisible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2x2 with plotted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Gantt with milestones and today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with financial impact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Phases x threads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Balance: heavier side sits lower.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Maturity stages with the current one highlighted.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Curve as a native smoothed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Panels: zones with named products; live chips in teal, the highlighted zone navy with an amber 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Ecosystem: a hub and up to four groups around it; arrows show which way information moves; dashed nodes are planned. Native shapes, never a pasted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Two-column mapping.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Tiers: stacked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RAG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image slide is for a real capture at full size. Below 800 px the gate refuses it; ask for a proper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strip: each figure with its target, change and period. The highlight goes on the miss.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tracker: items against stages; shape carries the state, the legend says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Contrast: what stays the same beside what changes. The reassurance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rights: who proposes, approves and executes, and the gate each decision passes.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 divider: the marks show where the audience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One-slide decision: the recommendation, three reasons, the ask, the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number: the figure, what it measures, what drives it, so what.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One-slide status: the overall call, the workstreams, the one red and the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One-slide shift: before and after with the change called out, then the ask and the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One-slide story: situation, complication, resolution, then the ask and the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Risks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Statement: one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Ask, audience-addressed variant: a lead card beside numbered actions; bottom-line band.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image" Target="../media/image-33-8.png"/><Relationship Id="rId9" Type="http://schemas.openxmlformats.org/officeDocument/2006/relationships/image" Target="../media/image-3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image" Target="../media/image-4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0"/>
            <a:ext cx="3392424" cy="6858000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0"/>
            <a:ext cx="6400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50392" y="1097280"/>
            <a:ext cx="7306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 NETWORK REVIEW · HALVARD FREIGHT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0392" y="1517904"/>
            <a:ext cx="7315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0392" y="1920240"/>
            <a:ext cx="7306056" cy="1639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depots do</a:t>
            </a:r>
            <a:endParaRPr lang="en-US" sz="52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 of nine.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3788664"/>
            <a:ext cx="7306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network data shows, what it would take to consolidate, and what the board is asked to decide.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5715000"/>
            <a:ext cx="7306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fictional · Built to show every pattern in the library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208008" y="1344168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0" descr="/home/claude/skills/firstchair-consulting-deck/assets/icons/white/wareho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0662" y="1456822"/>
            <a:ext cx="286756" cy="28675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994392" y="120700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9994392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depots to consolidate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208008" y="2907792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4" name="Image 1" descr="/home/claude/skills/firstchair-consulting-deck/assets/icons/white/sav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0662" y="3020446"/>
            <a:ext cx="286756" cy="2867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994392" y="27706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$4.1M</a:t>
            </a:r>
            <a:endParaRPr lang="en-US" sz="4000" dirty="0"/>
          </a:p>
        </p:txBody>
      </p:sp>
      <p:sp>
        <p:nvSpPr>
          <p:cNvPr id="16" name="Text 12"/>
          <p:cNvSpPr txBox="1"/>
          <p:nvPr/>
        </p:nvSpPr>
        <p:spPr>
          <a:xfrm>
            <a:off x="9994392" y="343814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saving, net of fuel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9208008" y="4471416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2" descr="/home/claude/skills/firstchair-consulting-deck/assets/icons/white/tru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0662" y="4584070"/>
            <a:ext cx="286756" cy="2867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994392" y="433425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99.2%</a:t>
            </a:r>
            <a:endParaRPr lang="en-US" sz="4000" dirty="0"/>
          </a:p>
        </p:txBody>
      </p:sp>
      <p:sp>
        <p:nvSpPr>
          <p:cNvPr id="20" name="Text 15"/>
          <p:cNvSpPr txBox="1"/>
          <p:nvPr/>
        </p:nvSpPr>
        <p:spPr>
          <a:xfrm>
            <a:off x="9994392" y="5001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keep next-day service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Consolidating three depots saves $4.1M</a:t>
            </a:r>
            <a:endParaRPr lang="en-US" sz="3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year at a one-time cost of $2.6M.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67512" y="2218944"/>
            <a:ext cx="10853928" cy="603504"/>
          </a:xfrm>
          <a:prstGeom prst="rect">
            <a:avLst/>
          </a:prstGeom>
          <a:solidFill>
            <a:srgbClr val="E3EFEC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218944"/>
            <a:ext cx="82296" cy="6035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24712" y="2218944"/>
            <a:ext cx="10030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Consolidating three depots saves $4.1M a year — for a one-time cost of $2.6M and no loss of next-day coverage.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304190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078480"/>
            <a:ext cx="102870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depots run below 40% utilisation and sit within 60 miles of a larger site.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346252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499104"/>
            <a:ext cx="102870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volume fits inside the receiving sites' spare capacity with 18% headroom.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388315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919728"/>
            <a:ext cx="102870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coverage holds for 99.2% of current customers after re-routing.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" y="4303776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40352"/>
            <a:ext cx="102870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saving is dominated by lease and labour; fuel rises by $0.3M and is included.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67512" y="5090160"/>
            <a:ext cx="5289804" cy="96316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" y="5090160"/>
            <a:ext cx="82296" cy="963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923544" y="533400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0" descr="/home/claude/skills/firstchair-consulting-deck/assets/icons/white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151" y="5438607"/>
            <a:ext cx="266273" cy="266273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581912" y="5199888"/>
            <a:ext cx="41925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NEEDED   </a:t>
            </a:r>
            <a:pPr indent="0" marL="0">
              <a:buNone/>
            </a:pP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1581912" y="5474208"/>
            <a:ext cx="4192524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consolidation plan and the $2.6M transition budget by Oct 15.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231636" y="5090160"/>
            <a:ext cx="5289804" cy="9631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231636" y="5090160"/>
            <a:ext cx="82296" cy="96316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4" name="Shape 21"/>
          <p:cNvSpPr/>
          <p:nvPr/>
        </p:nvSpPr>
        <p:spPr>
          <a:xfrm>
            <a:off x="6487668" y="5334000"/>
            <a:ext cx="475488" cy="475488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25" name="Image 1" descr="/home/claude/skills/firstchair-consulting-deck/assets/icons/white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275" y="5438607"/>
            <a:ext cx="266273" cy="266273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146036" y="5199888"/>
            <a:ext cx="41925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RISK   </a:t>
            </a:r>
            <a:pPr indent="0" marL="0">
              <a:buNone/>
            </a:pP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7146036" y="5474208"/>
            <a:ext cx="4192524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consultation at the Ridgeway depot could add four months.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Halvard depot P&amp;L FY25; route model v3 (fictional)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 in the argument.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67512" y="2752344"/>
            <a:ext cx="7597750" cy="0"/>
          </a:xfrm>
          <a:prstGeom prst="line">
            <a:avLst/>
          </a:prstGeom>
          <a:noFill/>
          <a:ln w="9525">
            <a:solidFill>
              <a:srgbClr val="D5DB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965960"/>
            <a:ext cx="731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719072" y="1965960"/>
            <a:ext cx="640903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today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67512" y="2798064"/>
            <a:ext cx="7597750" cy="69494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2798064"/>
            <a:ext cx="82296" cy="6949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96112" y="2752344"/>
            <a:ext cx="731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719072" y="2752344"/>
            <a:ext cx="640903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consolidation would look like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67512" y="4325112"/>
            <a:ext cx="7597750" cy="0"/>
          </a:xfrm>
          <a:prstGeom prst="line">
            <a:avLst/>
          </a:prstGeom>
          <a:noFill/>
          <a:ln w="9525">
            <a:solidFill>
              <a:srgbClr val="D5DB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3538728"/>
            <a:ext cx="731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719072" y="3538728"/>
            <a:ext cx="640903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and saves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7512" y="5111496"/>
            <a:ext cx="7597750" cy="0"/>
          </a:xfrm>
          <a:prstGeom prst="line">
            <a:avLst/>
          </a:prstGeom>
          <a:noFill/>
          <a:ln w="9525">
            <a:solidFill>
              <a:srgbClr val="D5DB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325112"/>
            <a:ext cx="731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719072" y="4325112"/>
            <a:ext cx="640903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the decision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3" name="Shape 1"/>
          <p:cNvSpPr/>
          <p:nvPr/>
        </p:nvSpPr>
        <p:spPr>
          <a:xfrm>
            <a:off x="3108960" y="0"/>
            <a:ext cx="6400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214884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20116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2395728"/>
            <a:ext cx="7680960" cy="1377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network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stands today.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395630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depots carry a third of the cost for a seventh of the volume.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840480" y="5669280"/>
            <a:ext cx="14630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40480" y="579729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49824" y="5669280"/>
            <a:ext cx="1463040" cy="73152"/>
          </a:xfrm>
          <a:prstGeom prst="rect">
            <a:avLst/>
          </a:prstGeom>
          <a:solidFill>
            <a:srgbClr val="9FB3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49824" y="579729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059168" y="5669280"/>
            <a:ext cx="1463040" cy="73152"/>
          </a:xfrm>
          <a:prstGeom prst="rect">
            <a:avLst/>
          </a:prstGeom>
          <a:solidFill>
            <a:srgbClr val="9FB3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59168" y="579729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6455664"/>
            <a:ext cx="7068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TODAY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of nine depots run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below 40% utilisation.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060448"/>
            <a:ext cx="10853928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is dock hours used over dock hours available, FY25 average.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7512" y="2633472"/>
            <a:ext cx="2507742" cy="20558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2633472"/>
            <a:ext cx="2507742" cy="8229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2935224"/>
            <a:ext cx="20505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246120"/>
            <a:ext cx="2050542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Ridgeway · 34%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599688"/>
            <a:ext cx="2050542" cy="90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fell 22% after the Carver contract ended in 2024.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49574" y="2633472"/>
            <a:ext cx="2507742" cy="20558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49574" y="2633472"/>
            <a:ext cx="2507742" cy="8229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78174" y="2935224"/>
            <a:ext cx="20505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78174" y="3246120"/>
            <a:ext cx="2050542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Brookline · 37%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678174" y="3599688"/>
            <a:ext cx="2050542" cy="90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41 miles from Easton, which runs at 71%.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31636" y="2633472"/>
            <a:ext cx="2507742" cy="20558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31636" y="2633472"/>
            <a:ext cx="2507742" cy="8229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60236" y="2935224"/>
            <a:ext cx="20505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60236" y="3246120"/>
            <a:ext cx="2050542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Oakmont · 39%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60236" y="3599688"/>
            <a:ext cx="2050542" cy="90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renews in March; rent steps up 12%.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013698" y="2633472"/>
            <a:ext cx="2507742" cy="2055876"/>
          </a:xfrm>
          <a:prstGeom prst="rect">
            <a:avLst/>
          </a:prstGeom>
          <a:solidFill>
            <a:srgbClr val="0E2A47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13698" y="2633472"/>
            <a:ext cx="2507742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42298" y="2935224"/>
            <a:ext cx="20505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242298" y="3246120"/>
            <a:ext cx="2050542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cost with no volume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242298" y="3843528"/>
            <a:ext cx="205054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carry $5.2M of lease and labour for 14% of network volume.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7512" y="4963668"/>
            <a:ext cx="10853928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7512" y="4963668"/>
            <a:ext cx="82296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Shape 26"/>
          <p:cNvSpPr/>
          <p:nvPr/>
        </p:nvSpPr>
        <p:spPr>
          <a:xfrm>
            <a:off x="1033272" y="510082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9" name="Image 0" descr="/home/claude/skills/firstchair-consulting-deck/assets/icons/white/check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973" y="5221529"/>
            <a:ext cx="307238" cy="307238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810512" y="4963668"/>
            <a:ext cx="9390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depots carry $5.2M of fixed cost for 14% of network volume.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Halvard depot P&amp;L FY25 (fictional)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OPERATORS GET BACK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Consolidation frees each receiving site's</a:t>
            </a:r>
            <a:endParaRPr lang="en-US" sz="37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for the work only they can do.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7512" y="2188464"/>
            <a:ext cx="3435096" cy="2290572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490216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/home/claude/skills/firstchair-consulting-deck/assets/icons/white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836" y="2614940"/>
            <a:ext cx="317480" cy="317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96112" y="3203448"/>
            <a:ext cx="2977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re-plans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3587496"/>
            <a:ext cx="29778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planning run for the region instead of three depot schedules stitched together.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76928" y="2188464"/>
            <a:ext cx="3435096" cy="2290572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11" name="Shape 8"/>
          <p:cNvSpPr/>
          <p:nvPr/>
        </p:nvSpPr>
        <p:spPr>
          <a:xfrm>
            <a:off x="4605528" y="2490216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/home/claude/skills/firstchair-consulting-deck/assets/icons/white/tim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252" y="2614940"/>
            <a:ext cx="317480" cy="317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05528" y="3203448"/>
            <a:ext cx="2977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shunts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605528" y="3587496"/>
            <a:ext cx="29778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Trailers stop crossing between the low sites and Easton to balance loads.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086344" y="2188464"/>
            <a:ext cx="3435096" cy="2290572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16" name="Shape 12"/>
          <p:cNvSpPr/>
          <p:nvPr/>
        </p:nvSpPr>
        <p:spPr>
          <a:xfrm>
            <a:off x="8314944" y="2490216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2" descr="/home/claude/skills/firstchair-consulting-deck/assets/icons/white/t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668" y="2614940"/>
            <a:ext cx="317480" cy="317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14944" y="3203448"/>
            <a:ext cx="2977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benches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314944" y="3587496"/>
            <a:ext cx="29778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larger crews cover absence without agency labour.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667512" y="4799076"/>
            <a:ext cx="10853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less stitching, fewer handoffs, and more of each shift spent moving freight.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OPERATORS SAY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depot managers already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which sites are underused.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67512" y="2371344"/>
            <a:ext cx="10853928" cy="24612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2371344"/>
            <a:ext cx="82296" cy="24612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99032" y="2691384"/>
            <a:ext cx="9390888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could run Brookline's whole Tuesday out of Easton's afternoon shift and nobody would notice except the landlord.”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399032" y="4238244"/>
            <a:ext cx="9390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Regional operations manager, interview 14 Aug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Operator interviews, Aug 2026 (fictional)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3" name="Shape 1"/>
          <p:cNvSpPr/>
          <p:nvPr/>
        </p:nvSpPr>
        <p:spPr>
          <a:xfrm>
            <a:off x="3108960" y="0"/>
            <a:ext cx="6400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214884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20116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2395728"/>
            <a:ext cx="7680960" cy="1377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consolidation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look like.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395630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months, three gated phases, no loss of next-day coverage.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840480" y="5669280"/>
            <a:ext cx="1463040" cy="73152"/>
          </a:xfrm>
          <a:prstGeom prst="rect">
            <a:avLst/>
          </a:prstGeom>
          <a:solidFill>
            <a:srgbClr val="9FB3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40480" y="579729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49824" y="5669280"/>
            <a:ext cx="14630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49824" y="579729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059168" y="5669280"/>
            <a:ext cx="1463040" cy="73152"/>
          </a:xfrm>
          <a:prstGeom prst="rect">
            <a:avLst/>
          </a:prstGeom>
          <a:solidFill>
            <a:srgbClr val="9FB3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59168" y="579729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6455664"/>
            <a:ext cx="7068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TRANSITION RUNS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phases over nine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months, each gated on the last.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060448"/>
            <a:ext cx="10853928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move before people; people move before buildings close.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7512" y="2633472"/>
            <a:ext cx="3410712" cy="1432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2633472"/>
            <a:ext cx="3410712" cy="822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2898648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172968"/>
            <a:ext cx="29535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Re-route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493008"/>
            <a:ext cx="295351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Ridgeway and Brookline volume to Easton on the route model; measure service.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23944" y="3349752"/>
            <a:ext cx="219456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89120" y="2633472"/>
            <a:ext cx="3410712" cy="1432560"/>
          </a:xfrm>
          <a:prstGeom prst="rect">
            <a:avLst/>
          </a:prstGeom>
          <a:solidFill>
            <a:srgbClr val="0E2A47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2633472"/>
            <a:ext cx="3410712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17720" y="2898648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172968"/>
            <a:ext cx="29535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 and transfer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3493008"/>
            <a:ext cx="295351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consultation, transfer offers, hiring at receiving sites.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45552" y="3349752"/>
            <a:ext cx="219456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10728" y="2633472"/>
            <a:ext cx="3410712" cy="1432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10728" y="2633472"/>
            <a:ext cx="3410712" cy="822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39328" y="2898648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7–9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339328" y="3172968"/>
            <a:ext cx="29535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and exit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339328" y="3493008"/>
            <a:ext cx="295351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exits, asset disposal, Oakmont handed back at renewal.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7512" y="4267200"/>
            <a:ext cx="10853928" cy="51206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24" name="Shape 22"/>
          <p:cNvSpPr/>
          <p:nvPr/>
        </p:nvSpPr>
        <p:spPr>
          <a:xfrm>
            <a:off x="667512" y="4267200"/>
            <a:ext cx="82296" cy="5120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87552" y="4267200"/>
            <a:ext cx="89595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LEAD  —  </a:t>
            </a:r>
            <a:pPr indent="0" marL="0"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accountable owner across all three phases, reporting to the COO monthly.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084283" y="4267200"/>
            <a:ext cx="116283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6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7512" y="4962144"/>
            <a:ext cx="3435096" cy="347472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22376" y="4962144"/>
            <a:ext cx="3325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22376" y="5419344"/>
            <a:ext cx="3325368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planner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 managers (both)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376928" y="4962144"/>
            <a:ext cx="3435096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431792" y="4962144"/>
            <a:ext cx="3325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431792" y="5419344"/>
            <a:ext cx="3325368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business partner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liaison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086344" y="4962144"/>
            <a:ext cx="3435096" cy="347472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141208" y="4962144"/>
            <a:ext cx="3325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141208" y="5419344"/>
            <a:ext cx="3325368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RE-ROUTING SEQUENCE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moves in four steps,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reversible until the last.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67512" y="2279904"/>
            <a:ext cx="2658618" cy="713232"/>
          </a:xfrm>
          <a:prstGeom prst="homePlate">
            <a:avLst/>
          </a:prstGeom>
          <a:solidFill>
            <a:srgbClr val="C9D6E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32104" y="2279904"/>
            <a:ext cx="2265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99282" y="2279904"/>
            <a:ext cx="2658618" cy="713232"/>
          </a:xfrm>
          <a:prstGeom prst="chevron">
            <a:avLst/>
          </a:prstGeom>
          <a:solidFill>
            <a:srgbClr val="C9D6E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27516" y="2279904"/>
            <a:ext cx="220215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31052" y="2279904"/>
            <a:ext cx="2658618" cy="713232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9286" y="2279904"/>
            <a:ext cx="220215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862822" y="2279904"/>
            <a:ext cx="2658618" cy="713232"/>
          </a:xfrm>
          <a:prstGeom prst="chevron">
            <a:avLst/>
          </a:prstGeom>
          <a:solidFill>
            <a:srgbClr val="0E2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091056" y="2279904"/>
            <a:ext cx="220215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194304"/>
            <a:ext cx="243916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 every route on the current order book.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509010" y="3194304"/>
            <a:ext cx="243916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week of Brookline Tuesdays from Easton.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40780" y="3194304"/>
            <a:ext cx="243916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Service, cost per drop, driver hours.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972550" y="3194304"/>
            <a:ext cx="243916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remaining days once service holds.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7512" y="3941064"/>
            <a:ext cx="10853928" cy="603504"/>
          </a:xfrm>
          <a:prstGeom prst="rect">
            <a:avLst/>
          </a:prstGeom>
          <a:solidFill>
            <a:srgbClr val="E3EFEC"/>
          </a:solidFill>
          <a:ln/>
        </p:spPr>
      </p:sp>
      <p:sp>
        <p:nvSpPr>
          <p:cNvPr id="18" name="Shape 16"/>
          <p:cNvSpPr/>
          <p:nvPr/>
        </p:nvSpPr>
        <p:spPr>
          <a:xfrm>
            <a:off x="667512" y="3941064"/>
            <a:ext cx="82296" cy="6035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24712" y="3941064"/>
            <a:ext cx="10030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closes until the pilot has held service for four weeks.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STAIRCASE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step builds on the one before it.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450848"/>
            <a:ext cx="10853928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network sits today is step two.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7512" y="4629912"/>
            <a:ext cx="10853928" cy="868680"/>
          </a:xfrm>
          <a:prstGeom prst="rect">
            <a:avLst/>
          </a:prstGeom>
          <a:solidFill>
            <a:srgbClr val="ECEFF1"/>
          </a:solidFill>
          <a:ln w="19050">
            <a:solidFill>
              <a:srgbClr val="F6F7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" y="4703064"/>
            <a:ext cx="24574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5013960"/>
            <a:ext cx="245745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measured per dock per day.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0994" y="3761232"/>
            <a:ext cx="8140446" cy="868680"/>
          </a:xfrm>
          <a:prstGeom prst="rect">
            <a:avLst/>
          </a:prstGeom>
          <a:solidFill>
            <a:srgbClr val="F59E0B"/>
          </a:solidFill>
          <a:ln w="19050">
            <a:solidFill>
              <a:srgbClr val="F6F7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09010" y="3834384"/>
            <a:ext cx="24574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control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09010" y="4145280"/>
            <a:ext cx="245745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planning replaces depot-level planning.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94476" y="2892552"/>
            <a:ext cx="5426964" cy="868680"/>
          </a:xfrm>
          <a:prstGeom prst="rect">
            <a:avLst/>
          </a:prstGeom>
          <a:solidFill>
            <a:srgbClr val="ECEFF1"/>
          </a:solidFill>
          <a:ln w="19050">
            <a:solidFill>
              <a:srgbClr val="F6F7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22492" y="2965704"/>
            <a:ext cx="24574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balancing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22492" y="3276600"/>
            <a:ext cx="245745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moves between sites weekly.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807958" y="2023872"/>
            <a:ext cx="2713482" cy="868680"/>
          </a:xfrm>
          <a:prstGeom prst="rect">
            <a:avLst/>
          </a:prstGeom>
          <a:solidFill>
            <a:srgbClr val="0E2A47"/>
          </a:solidFill>
          <a:ln w="19050">
            <a:solidFill>
              <a:srgbClr val="F6F7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35974" y="2097024"/>
            <a:ext cx="24574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935974" y="2407920"/>
            <a:ext cx="245745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opened and closed on the model.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UTILISATION FELL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separate changes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emptied the same three depots.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67512" y="2279904"/>
            <a:ext cx="6295278" cy="1103376"/>
          </a:xfrm>
          <a:prstGeom prst="homePlate">
            <a:avLst/>
          </a:prstGeom>
          <a:solidFill>
            <a:srgbClr val="FFFFFF"/>
          </a:solidFill>
          <a:ln w="9525">
            <a:solidFill>
              <a:srgbClr val="D5D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2279904"/>
            <a:ext cx="82296" cy="11033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1832" y="2389632"/>
            <a:ext cx="538087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Carver contract ended (2024)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2650236"/>
            <a:ext cx="5380878" cy="67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Ridgeway lost its anchor customer.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67512" y="3511296"/>
            <a:ext cx="6295278" cy="1103376"/>
          </a:xfrm>
          <a:prstGeom prst="homePlate">
            <a:avLst/>
          </a:prstGeom>
          <a:solidFill>
            <a:srgbClr val="FFFFFF"/>
          </a:solidFill>
          <a:ln w="9525">
            <a:solidFill>
              <a:srgbClr val="D5DB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3511296"/>
            <a:ext cx="82296" cy="11033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621024"/>
            <a:ext cx="538087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Easton expansion (2023)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941832" y="3881628"/>
            <a:ext cx="5380878" cy="67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dock capacity 41 miles from Brookline.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7512" y="4742688"/>
            <a:ext cx="6295278" cy="1103376"/>
          </a:xfrm>
          <a:prstGeom prst="homePlate">
            <a:avLst/>
          </a:prstGeom>
          <a:solidFill>
            <a:srgbClr val="FFFFFF"/>
          </a:solidFill>
          <a:ln w="9525">
            <a:solidFill>
              <a:srgbClr val="D5DB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" y="4742688"/>
            <a:ext cx="82296" cy="11033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41832" y="4852416"/>
            <a:ext cx="538087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mix shift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941832" y="5113020"/>
            <a:ext cx="5380878" cy="67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consignments consolidate better at larger sites.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02870" y="2279904"/>
            <a:ext cx="3918570" cy="3566160"/>
          </a:xfrm>
          <a:prstGeom prst="rect">
            <a:avLst/>
          </a:prstGeom>
          <a:solidFill>
            <a:srgbClr val="0E2A47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602870" y="2279904"/>
            <a:ext cx="3918570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31470" y="2581656"/>
            <a:ext cx="34613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831470" y="2892552"/>
            <a:ext cx="346137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depots below 40%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831470" y="3307080"/>
            <a:ext cx="3461370" cy="2356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three causes was a mistake. Together they left the network one size too big.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Halvard volume history 2022–25 (fictional)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IMPACT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2,140 customers, 17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lose next-day service.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67512" y="2279904"/>
            <a:ext cx="6512357" cy="843534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" y="2279904"/>
            <a:ext cx="6512357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served by the three depots   2,140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591349" y="2279904"/>
            <a:ext cx="3930091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current accounts routed through Ridgeway, Brookline or Oakmont.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362163" y="3187446"/>
            <a:ext cx="5123054" cy="843534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62163" y="3187446"/>
            <a:ext cx="5123054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Re-routable within the model   2,061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591349" y="3187446"/>
            <a:ext cx="3930091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within receiving sites' drive-time windows.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056815" y="4094988"/>
            <a:ext cx="3733751" cy="843534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056815" y="4094988"/>
            <a:ext cx="3733751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Re-routable with a later cut-off   62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591349" y="4094988"/>
            <a:ext cx="3930091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holds if orders are in by 4pm rather than 6pm.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51466" y="5002530"/>
            <a:ext cx="2344448" cy="84353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751466" y="5002530"/>
            <a:ext cx="2344448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next-day service   17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591349" y="5002530"/>
            <a:ext cx="3930091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addresses beyond the 2-hour drive window.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Route model v3 (fictional)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SAVING COMES FROM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$4.1M saving is lease,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labour and overhead, less fuel.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67512" y="3800856"/>
            <a:ext cx="2286000" cy="73152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380085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$4.1M net annual saving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02152" y="2409444"/>
            <a:ext cx="8019288" cy="6842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02152" y="2409444"/>
            <a:ext cx="82296" cy="6842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21608" y="2500884"/>
            <a:ext cx="7653528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and facilities · $2.3M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21608" y="2753868"/>
            <a:ext cx="76535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leases exit; Oakmont at renewal.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27832" y="2751582"/>
            <a:ext cx="274320" cy="0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02152" y="3352800"/>
            <a:ext cx="8019288" cy="684276"/>
          </a:xfrm>
          <a:prstGeom prst="rect">
            <a:avLst/>
          </a:prstGeom>
          <a:solidFill>
            <a:srgbClr val="0E2A47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02152" y="3352800"/>
            <a:ext cx="82296" cy="6842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21608" y="3444240"/>
            <a:ext cx="7653528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· $1.6M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721608" y="3697224"/>
            <a:ext cx="76535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of 14 transfers and 9 new hires at receiving sites.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27832" y="3694938"/>
            <a:ext cx="274320" cy="0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02152" y="4296156"/>
            <a:ext cx="8019288" cy="6842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02152" y="4296156"/>
            <a:ext cx="82296" cy="6842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721608" y="4387596"/>
            <a:ext cx="7653528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· $0.5M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721608" y="4640580"/>
            <a:ext cx="76535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management, insurance, systems.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27832" y="4638294"/>
            <a:ext cx="274320" cy="0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02152" y="5239512"/>
            <a:ext cx="8019288" cy="6842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502152" y="5239512"/>
            <a:ext cx="82296" cy="6842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721608" y="5330952"/>
            <a:ext cx="7653528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and hours · −$0.3M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721608" y="5583936"/>
            <a:ext cx="76535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stem miles from Easton.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27832" y="5581650"/>
            <a:ext cx="274320" cy="0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27832" y="2751582"/>
            <a:ext cx="0" cy="2830068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53512" y="4166616"/>
            <a:ext cx="274320" cy="0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Halvard depot P&amp;L FY25; transition model (fictional)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UTILISATION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fell and capacity did not.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67512" y="3643884"/>
            <a:ext cx="2286000" cy="73152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364388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utilisation 34–39%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02152" y="2704338"/>
            <a:ext cx="27432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02152" y="2704338"/>
            <a:ext cx="8229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21608" y="2795778"/>
            <a:ext cx="2377440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27832" y="2987802"/>
            <a:ext cx="274320" cy="0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93992" y="2011680"/>
            <a:ext cx="4727448" cy="5897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22008" y="2011680"/>
            <a:ext cx="3968496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Consignments per day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1045952" y="2011680"/>
            <a:ext cx="384048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45352" y="2306574"/>
            <a:ext cx="548640" cy="0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9672" y="2306574"/>
            <a:ext cx="0" cy="681228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93992" y="2692908"/>
            <a:ext cx="4727448" cy="5897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22008" y="2692908"/>
            <a:ext cx="3968496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consignment size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1045952" y="2692908"/>
            <a:ext cx="384048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45352" y="2987802"/>
            <a:ext cx="548640" cy="0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3992" y="3374136"/>
            <a:ext cx="4727448" cy="5897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22008" y="3374136"/>
            <a:ext cx="3968496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count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045952" y="3374136"/>
            <a:ext cx="384048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245352" y="3669030"/>
            <a:ext cx="548640" cy="0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19672" y="2987802"/>
            <a:ext cx="0" cy="681228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02152" y="4407408"/>
            <a:ext cx="27432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02152" y="4407408"/>
            <a:ext cx="8229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721608" y="4498848"/>
            <a:ext cx="2377440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27832" y="4690872"/>
            <a:ext cx="274320" cy="0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93992" y="4055364"/>
            <a:ext cx="4727448" cy="5897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22008" y="4055364"/>
            <a:ext cx="3968496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doors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1045952" y="4055364"/>
            <a:ext cx="384048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45352" y="4350258"/>
            <a:ext cx="548640" cy="0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19672" y="4350258"/>
            <a:ext cx="0" cy="340614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93992" y="4736592"/>
            <a:ext cx="4727448" cy="5897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22008" y="4736592"/>
            <a:ext cx="3968496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hours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1045952" y="4736592"/>
            <a:ext cx="384048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245352" y="5031486"/>
            <a:ext cx="548640" cy="0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19672" y="4690872"/>
            <a:ext cx="0" cy="340614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02152" y="5429250"/>
            <a:ext cx="2743200" cy="566928"/>
          </a:xfrm>
          <a:prstGeom prst="rect">
            <a:avLst/>
          </a:prstGeom>
          <a:solidFill>
            <a:srgbClr val="0E2A47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502152" y="5429250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3721608" y="5520690"/>
            <a:ext cx="2377440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227832" y="5712714"/>
            <a:ext cx="274320" cy="0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93992" y="5417820"/>
            <a:ext cx="4727448" cy="5897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922008" y="5417820"/>
            <a:ext cx="3968496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planned centrally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11045952" y="5417820"/>
            <a:ext cx="384048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245352" y="5712714"/>
            <a:ext cx="548640" cy="0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19672" y="5712714"/>
            <a:ext cx="0" cy="0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27832" y="2987802"/>
            <a:ext cx="0" cy="2724912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53512" y="4009644"/>
            <a:ext cx="274320" cy="0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Halvard operations data FY23–25 (fictional)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the network lose three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depots without losing service?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67512" y="2279904"/>
            <a:ext cx="10853928" cy="603504"/>
          </a:xfrm>
          <a:prstGeom prst="rect">
            <a:avLst/>
          </a:prstGeom>
          <a:solidFill>
            <a:srgbClr val="E3EFEC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279904"/>
            <a:ext cx="82296" cy="6035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24712" y="2279904"/>
            <a:ext cx="10030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if routes move before people, and people move before buildings.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921383" y="3057144"/>
            <a:ext cx="8346186" cy="0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1383" y="3057144"/>
            <a:ext cx="0" cy="173736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3230880"/>
            <a:ext cx="2507742" cy="5120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230880"/>
            <a:ext cx="22882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sites have room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" y="3834384"/>
            <a:ext cx="2507742" cy="2218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95528" y="3944112"/>
            <a:ext cx="2251710" cy="1999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Easton at 71%, Fairmont at 66%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headroom after transfer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week modelled at 91%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3445" y="3057144"/>
            <a:ext cx="0" cy="173736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49574" y="3230880"/>
            <a:ext cx="2507742" cy="51206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59302" y="3230880"/>
            <a:ext cx="22882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holds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49574" y="3834384"/>
            <a:ext cx="2507742" cy="2218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577590" y="3944112"/>
            <a:ext cx="2251710" cy="1999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 next-day coverage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accounts affected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cut-off covers 62 more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85507" y="3057144"/>
            <a:ext cx="0" cy="173736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1636" y="3230880"/>
            <a:ext cx="2507742" cy="51206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41364" y="3230880"/>
            <a:ext cx="22882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can transfer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31636" y="3834384"/>
            <a:ext cx="2507742" cy="2218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359652" y="3944112"/>
            <a:ext cx="2251710" cy="1999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of 23 within 30 miles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hires needed at Easton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consultation required at Ridgeway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267569" y="3057144"/>
            <a:ext cx="0" cy="173736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13698" y="3230880"/>
            <a:ext cx="2507742" cy="51206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23426" y="3230880"/>
            <a:ext cx="22882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Leases can exit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013698" y="3834384"/>
            <a:ext cx="2507742" cy="2218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141714" y="3944112"/>
            <a:ext cx="2251710" cy="1999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Oakmont renews March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Ridgeway break clause 2027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Brookline sublet market strong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Transition model; HR data (fictional)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SITES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Oakmont is the cheapest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exit and the first to go.</a:t>
            </a:r>
            <a:endParaRPr lang="en-US" sz="4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2279904"/>
          <a:ext cx="10853928" cy="914400"/>
        </p:xfrm>
        <a:graphic>
          <a:graphicData uri="http://schemas.openxmlformats.org/drawingml/2006/table">
            <a:tbl>
              <a:tblPr/>
              <a:tblGrid>
                <a:gridCol w="2267985"/>
                <a:gridCol w="1619989"/>
                <a:gridCol w="1619989"/>
                <a:gridCol w="1619989"/>
                <a:gridCol w="1619989"/>
                <a:gridCol w="2105986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cost ($M)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cost ($M)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Receiving site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 break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Fairmont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Brookline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Oakmont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Halvard depot P&amp;L FY25; property schedule (fictional)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RECEIVING SITES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Easton and Fairmont score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highest on every criterion but one.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67512" y="2279904"/>
            <a:ext cx="10853928" cy="6035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10712" y="2279904"/>
            <a:ext cx="16221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 capacity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32858" y="2279904"/>
            <a:ext cx="16221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time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55003" y="2279904"/>
            <a:ext cx="16221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market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77149" y="2279904"/>
            <a:ext cx="16221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term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899294" y="2279904"/>
            <a:ext cx="16221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2883408"/>
            <a:ext cx="10853928" cy="603504"/>
          </a:xfrm>
          <a:prstGeom prst="rect">
            <a:avLst/>
          </a:prstGeom>
          <a:solidFill>
            <a:srgbClr val="F59E0B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" y="2883408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57193" y="302056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57193" y="3020568"/>
            <a:ext cx="329184" cy="329184"/>
          </a:xfrm>
          <a:prstGeom prst="ellipse">
            <a:avLst/>
          </a:prstGeom>
          <a:solidFill>
            <a:srgbClr val="0E2A47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79338" y="302056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79338" y="3020568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0E2A47"/>
          </a:solidFill>
          <a:ln/>
        </p:spPr>
      </p:sp>
      <p:sp>
        <p:nvSpPr>
          <p:cNvPr id="17" name="Shape 15"/>
          <p:cNvSpPr/>
          <p:nvPr/>
        </p:nvSpPr>
        <p:spPr>
          <a:xfrm>
            <a:off x="7301484" y="302056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01484" y="3020568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0E2A47"/>
          </a:solidFill>
          <a:ln/>
        </p:spPr>
      </p:sp>
      <p:sp>
        <p:nvSpPr>
          <p:cNvPr id="19" name="Shape 17"/>
          <p:cNvSpPr/>
          <p:nvPr/>
        </p:nvSpPr>
        <p:spPr>
          <a:xfrm>
            <a:off x="8923630" y="302056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23630" y="3020568"/>
            <a:ext cx="329184" cy="329184"/>
          </a:xfrm>
          <a:prstGeom prst="ellipse">
            <a:avLst/>
          </a:prstGeom>
          <a:solidFill>
            <a:srgbClr val="0E2A47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45775" y="302056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45775" y="3020568"/>
            <a:ext cx="329184" cy="32918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E2A47"/>
          </a:solidFill>
          <a:ln/>
        </p:spPr>
      </p:sp>
      <p:sp>
        <p:nvSpPr>
          <p:cNvPr id="23" name="Shape 21"/>
          <p:cNvSpPr/>
          <p:nvPr/>
        </p:nvSpPr>
        <p:spPr>
          <a:xfrm>
            <a:off x="667512" y="3486912"/>
            <a:ext cx="10853928" cy="603504"/>
          </a:xfrm>
          <a:prstGeom prst="rect">
            <a:avLst/>
          </a:prstGeom>
          <a:solidFill>
            <a:srgbClr val="ECEFF1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2104" y="3486912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Fairmont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057193" y="3624072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57193" y="3624072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0E2A47"/>
          </a:solidFill>
          <a:ln/>
        </p:spPr>
      </p:sp>
      <p:sp>
        <p:nvSpPr>
          <p:cNvPr id="27" name="Shape 25"/>
          <p:cNvSpPr/>
          <p:nvPr/>
        </p:nvSpPr>
        <p:spPr>
          <a:xfrm>
            <a:off x="5679338" y="3624072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79338" y="3624072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0E2A47"/>
          </a:solidFill>
          <a:ln/>
        </p:spPr>
      </p:sp>
      <p:sp>
        <p:nvSpPr>
          <p:cNvPr id="29" name="Shape 27"/>
          <p:cNvSpPr/>
          <p:nvPr/>
        </p:nvSpPr>
        <p:spPr>
          <a:xfrm>
            <a:off x="7301484" y="3624072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01484" y="3624072"/>
            <a:ext cx="329184" cy="329184"/>
          </a:xfrm>
          <a:prstGeom prst="ellipse">
            <a:avLst/>
          </a:prstGeom>
          <a:solidFill>
            <a:srgbClr val="0E2A47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23630" y="3624072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23630" y="3624072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0E2A47"/>
          </a:solidFill>
          <a:ln/>
        </p:spPr>
      </p:sp>
      <p:sp>
        <p:nvSpPr>
          <p:cNvPr id="33" name="Shape 31"/>
          <p:cNvSpPr/>
          <p:nvPr/>
        </p:nvSpPr>
        <p:spPr>
          <a:xfrm>
            <a:off x="10545775" y="3624072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45775" y="3624072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0E2A47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4090416"/>
            <a:ext cx="10853928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2104" y="4090416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Carlton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057193" y="4227576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57193" y="4227576"/>
            <a:ext cx="329184" cy="32918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E2A47"/>
          </a:solidFill>
          <a:ln/>
        </p:spPr>
      </p:sp>
      <p:sp>
        <p:nvSpPr>
          <p:cNvPr id="39" name="Shape 37"/>
          <p:cNvSpPr/>
          <p:nvPr/>
        </p:nvSpPr>
        <p:spPr>
          <a:xfrm>
            <a:off x="5679338" y="4227576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79338" y="4227576"/>
            <a:ext cx="329184" cy="329184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0E2A47"/>
          </a:solidFill>
          <a:ln/>
        </p:spPr>
      </p:sp>
      <p:sp>
        <p:nvSpPr>
          <p:cNvPr id="41" name="Shape 39"/>
          <p:cNvSpPr/>
          <p:nvPr/>
        </p:nvSpPr>
        <p:spPr>
          <a:xfrm>
            <a:off x="7301484" y="4227576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01484" y="4227576"/>
            <a:ext cx="329184" cy="32918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E2A47"/>
          </a:solidFill>
          <a:ln/>
        </p:spPr>
      </p:sp>
      <p:sp>
        <p:nvSpPr>
          <p:cNvPr id="43" name="Shape 41"/>
          <p:cNvSpPr/>
          <p:nvPr/>
        </p:nvSpPr>
        <p:spPr>
          <a:xfrm>
            <a:off x="8923630" y="4227576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23630" y="4227576"/>
            <a:ext cx="329184" cy="32918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E2A47"/>
          </a:solidFill>
          <a:ln/>
        </p:spPr>
      </p:sp>
      <p:sp>
        <p:nvSpPr>
          <p:cNvPr id="45" name="Shape 43"/>
          <p:cNvSpPr/>
          <p:nvPr/>
        </p:nvSpPr>
        <p:spPr>
          <a:xfrm>
            <a:off x="10545775" y="4227576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545775" y="4227576"/>
            <a:ext cx="329184" cy="329184"/>
          </a:xfrm>
          <a:prstGeom prst="ellipse">
            <a:avLst/>
          </a:prstGeom>
          <a:solidFill>
            <a:srgbClr val="0E2A47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7512" y="4693920"/>
            <a:ext cx="10853928" cy="603504"/>
          </a:xfrm>
          <a:prstGeom prst="rect">
            <a:avLst/>
          </a:prstGeom>
          <a:solidFill>
            <a:srgbClr val="ECEFF1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32104" y="469392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Westbrook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057193" y="48310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57193" y="4831080"/>
            <a:ext cx="329184" cy="329184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0E2A47"/>
          </a:solidFill>
          <a:ln/>
        </p:spPr>
      </p:sp>
      <p:sp>
        <p:nvSpPr>
          <p:cNvPr id="51" name="Shape 49"/>
          <p:cNvSpPr/>
          <p:nvPr/>
        </p:nvSpPr>
        <p:spPr>
          <a:xfrm>
            <a:off x="5679338" y="48310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79338" y="4831080"/>
            <a:ext cx="329184" cy="32918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E2A47"/>
          </a:solidFill>
          <a:ln/>
        </p:spPr>
      </p:sp>
      <p:sp>
        <p:nvSpPr>
          <p:cNvPr id="53" name="Shape 51"/>
          <p:cNvSpPr/>
          <p:nvPr/>
        </p:nvSpPr>
        <p:spPr>
          <a:xfrm>
            <a:off x="7301484" y="48310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01484" y="4831080"/>
            <a:ext cx="329184" cy="329184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0E2A47"/>
          </a:solidFill>
          <a:ln/>
        </p:spPr>
      </p:sp>
      <p:sp>
        <p:nvSpPr>
          <p:cNvPr id="55" name="Shape 53"/>
          <p:cNvSpPr/>
          <p:nvPr/>
        </p:nvSpPr>
        <p:spPr>
          <a:xfrm>
            <a:off x="8923630" y="48310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923630" y="4831080"/>
            <a:ext cx="329184" cy="329184"/>
          </a:xfrm>
          <a:prstGeom prst="ellipse">
            <a:avLst/>
          </a:prstGeom>
          <a:solidFill>
            <a:srgbClr val="0E2A47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545775" y="48310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545775" y="4831080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0E2A47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667512" y="5388864"/>
            <a:ext cx="10853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= strongest on that criterion; empty = weakest. Scored by the route model and site visits.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Site assessment, Aug 2026 (fictional)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BY SITE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receiving sites are ready;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needs a hiring plan first.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67512" y="2279904"/>
            <a:ext cx="10853928" cy="6035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10712" y="2279904"/>
            <a:ext cx="202768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38394" y="2279904"/>
            <a:ext cx="202768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66076" y="2279904"/>
            <a:ext cx="202768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493758" y="2279904"/>
            <a:ext cx="202768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" y="2883408"/>
            <a:ext cx="10853928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" y="2883408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9961" y="3020568"/>
            <a:ext cx="329184" cy="32918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59961" y="3020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87643" y="3020568"/>
            <a:ext cx="329184" cy="32918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87643" y="3020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315325" y="3020568"/>
            <a:ext cx="329184" cy="32918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15325" y="3020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343007" y="3020568"/>
            <a:ext cx="329184" cy="32918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343007" y="3020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7512" y="3486912"/>
            <a:ext cx="10853928" cy="603504"/>
          </a:xfrm>
          <a:prstGeom prst="rect">
            <a:avLst/>
          </a:prstGeom>
          <a:solidFill>
            <a:srgbClr val="ECEFF1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2104" y="3486912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Fairmont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59961" y="3624072"/>
            <a:ext cx="329184" cy="32918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59961" y="3624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87643" y="3624072"/>
            <a:ext cx="329184" cy="32918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87643" y="3624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315325" y="3624072"/>
            <a:ext cx="329184" cy="32918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15325" y="3624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343007" y="3624072"/>
            <a:ext cx="329184" cy="32918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343007" y="3624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7512" y="4090416"/>
            <a:ext cx="10853928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" y="4090416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Carlton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259961" y="4227576"/>
            <a:ext cx="329184" cy="32918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259961" y="4227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87643" y="4227576"/>
            <a:ext cx="329184" cy="329184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287643" y="4227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315325" y="4227576"/>
            <a:ext cx="329184" cy="32918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315325" y="4227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343007" y="4227576"/>
            <a:ext cx="329184" cy="32918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343007" y="4227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7512" y="4785360"/>
            <a:ext cx="10853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ready · A in progress · R needs a decision.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Site readiness review (fictional)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BY DEPOT AND QUARTER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low sites have been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below 45% for six quarters.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3044952" y="2279904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25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457700" y="2279904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25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870448" y="2279904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25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283196" y="2279904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25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695944" y="2279904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26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0108692" y="2279904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26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755392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072384" y="2782824"/>
            <a:ext cx="1357884" cy="420624"/>
          </a:xfrm>
          <a:prstGeom prst="rect">
            <a:avLst/>
          </a:prstGeom>
          <a:solidFill>
            <a:srgbClr val="2E486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44952" y="2755392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85132" y="2782824"/>
            <a:ext cx="1357884" cy="420624"/>
          </a:xfrm>
          <a:prstGeom prst="rect">
            <a:avLst/>
          </a:prstGeom>
          <a:solidFill>
            <a:srgbClr val="233E5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57700" y="2755392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97880" y="2782824"/>
            <a:ext cx="1357884" cy="420624"/>
          </a:xfrm>
          <a:prstGeom prst="rect">
            <a:avLst/>
          </a:prstGeom>
          <a:solidFill>
            <a:srgbClr val="1934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70448" y="2755392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0628" y="2782824"/>
            <a:ext cx="1357884" cy="42062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83196" y="2755392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723376" y="2782824"/>
            <a:ext cx="1357884" cy="420624"/>
          </a:xfrm>
          <a:prstGeom prst="rect">
            <a:avLst/>
          </a:prstGeom>
          <a:solidFill>
            <a:srgbClr val="1E395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95944" y="2755392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136124" y="2782824"/>
            <a:ext cx="1357884" cy="420624"/>
          </a:xfrm>
          <a:prstGeom prst="rect">
            <a:avLst/>
          </a:prstGeom>
          <a:solidFill>
            <a:srgbClr val="132F4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108692" y="2755392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67512" y="3230880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Fairmont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072384" y="3258312"/>
            <a:ext cx="1357884" cy="420624"/>
          </a:xfrm>
          <a:prstGeom prst="rect">
            <a:avLst/>
          </a:prstGeom>
          <a:solidFill>
            <a:srgbClr val="536A7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044952" y="3230880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85132" y="3258312"/>
            <a:ext cx="1357884" cy="420624"/>
          </a:xfrm>
          <a:prstGeom prst="rect">
            <a:avLst/>
          </a:prstGeom>
          <a:solidFill>
            <a:srgbClr val="435B7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457700" y="3230880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897880" y="3258312"/>
            <a:ext cx="1357884" cy="420624"/>
          </a:xfrm>
          <a:prstGeom prst="rect">
            <a:avLst/>
          </a:prstGeom>
          <a:solidFill>
            <a:srgbClr val="39516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870448" y="3230880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310628" y="3258312"/>
            <a:ext cx="1357884" cy="420624"/>
          </a:xfrm>
          <a:prstGeom prst="rect">
            <a:avLst/>
          </a:prstGeom>
          <a:solidFill>
            <a:srgbClr val="2E486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283196" y="3230880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723376" y="3258312"/>
            <a:ext cx="1357884" cy="420624"/>
          </a:xfrm>
          <a:prstGeom prst="rect">
            <a:avLst/>
          </a:prstGeom>
          <a:solidFill>
            <a:srgbClr val="39516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695944" y="3230880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0136124" y="3258312"/>
            <a:ext cx="1357884" cy="420624"/>
          </a:xfrm>
          <a:prstGeom prst="rect">
            <a:avLst/>
          </a:prstGeom>
          <a:solidFill>
            <a:srgbClr val="334C6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108692" y="3230880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67512" y="3706368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Carlton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072384" y="3733800"/>
            <a:ext cx="1357884" cy="420624"/>
          </a:xfrm>
          <a:prstGeom prst="rect">
            <a:avLst/>
          </a:prstGeom>
          <a:solidFill>
            <a:srgbClr val="738895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044952" y="3706368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485132" y="3733800"/>
            <a:ext cx="1357884" cy="420624"/>
          </a:xfrm>
          <a:prstGeom prst="rect">
            <a:avLst/>
          </a:prstGeom>
          <a:solidFill>
            <a:srgbClr val="798D9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457700" y="3706368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897880" y="3733800"/>
            <a:ext cx="1357884" cy="420624"/>
          </a:xfrm>
          <a:prstGeom prst="rect">
            <a:avLst/>
          </a:prstGeom>
          <a:solidFill>
            <a:srgbClr val="637989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870448" y="3706368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310628" y="3733800"/>
            <a:ext cx="1357884" cy="420624"/>
          </a:xfrm>
          <a:prstGeom prst="rect">
            <a:avLst/>
          </a:prstGeom>
          <a:solidFill>
            <a:srgbClr val="697E8D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283196" y="3706368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723376" y="3733800"/>
            <a:ext cx="1357884" cy="420624"/>
          </a:xfrm>
          <a:prstGeom prst="rect">
            <a:avLst/>
          </a:prstGeom>
          <a:solidFill>
            <a:srgbClr val="6E8391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695944" y="3706368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10136124" y="3733800"/>
            <a:ext cx="1357884" cy="420624"/>
          </a:xfrm>
          <a:prstGeom prst="rect">
            <a:avLst/>
          </a:prstGeom>
          <a:solidFill>
            <a:srgbClr val="5E7485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10108692" y="3706368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667512" y="4181856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Ridgeway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3072384" y="4209288"/>
            <a:ext cx="1357884" cy="420624"/>
          </a:xfrm>
          <a:prstGeom prst="rect">
            <a:avLst/>
          </a:prstGeom>
          <a:solidFill>
            <a:srgbClr val="AEBEC3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3044952" y="4181856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485132" y="4209288"/>
            <a:ext cx="1357884" cy="420624"/>
          </a:xfrm>
          <a:prstGeom prst="rect">
            <a:avLst/>
          </a:prstGeom>
          <a:solidFill>
            <a:srgbClr val="BECDC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457700" y="4181856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897880" y="4209288"/>
            <a:ext cx="1357884" cy="420624"/>
          </a:xfrm>
          <a:prstGeom prst="rect">
            <a:avLst/>
          </a:prstGeom>
          <a:solidFill>
            <a:srgbClr val="CEDBDC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5870448" y="4181856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7310628" y="4209288"/>
            <a:ext cx="1357884" cy="420624"/>
          </a:xfrm>
          <a:prstGeom prst="rect">
            <a:avLst/>
          </a:prstGeom>
          <a:solidFill>
            <a:srgbClr val="D8E5E4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7283196" y="4181856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8723376" y="4209288"/>
            <a:ext cx="1357884" cy="420624"/>
          </a:xfrm>
          <a:prstGeom prst="rect">
            <a:avLst/>
          </a:prstGeom>
          <a:solidFill>
            <a:srgbClr val="E3EFEC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8695944" y="4181856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10136124" y="4209288"/>
            <a:ext cx="1357884" cy="420624"/>
          </a:xfrm>
          <a:prstGeom prst="rect">
            <a:avLst/>
          </a:prstGeom>
          <a:solidFill>
            <a:srgbClr val="DEEAE8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10108692" y="4181856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50" dirty="0"/>
          </a:p>
        </p:txBody>
      </p:sp>
      <p:sp>
        <p:nvSpPr>
          <p:cNvPr id="63" name="Text 61"/>
          <p:cNvSpPr txBox="1"/>
          <p:nvPr/>
        </p:nvSpPr>
        <p:spPr>
          <a:xfrm>
            <a:off x="667512" y="4657344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Brookline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3072384" y="4684776"/>
            <a:ext cx="1357884" cy="420624"/>
          </a:xfrm>
          <a:prstGeom prst="rect">
            <a:avLst/>
          </a:prstGeom>
          <a:solidFill>
            <a:srgbClr val="B3C3C7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3044952" y="4657344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4485132" y="4684776"/>
            <a:ext cx="1357884" cy="420624"/>
          </a:xfrm>
          <a:prstGeom prst="rect">
            <a:avLst/>
          </a:prstGeom>
          <a:solidFill>
            <a:srgbClr val="B8C8CB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4457700" y="4657344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5897880" y="4684776"/>
            <a:ext cx="1357884" cy="420624"/>
          </a:xfrm>
          <a:prstGeom prst="rect">
            <a:avLst/>
          </a:prstGeom>
          <a:solidFill>
            <a:srgbClr val="C3D1D3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5870448" y="4657344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7310628" y="4684776"/>
            <a:ext cx="1357884" cy="420624"/>
          </a:xfrm>
          <a:prstGeom prst="rect">
            <a:avLst/>
          </a:prstGeom>
          <a:solidFill>
            <a:srgbClr val="C8D6D7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7283196" y="4657344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8723376" y="4684776"/>
            <a:ext cx="1357884" cy="420624"/>
          </a:xfrm>
          <a:prstGeom prst="rect">
            <a:avLst/>
          </a:prstGeom>
          <a:solidFill>
            <a:srgbClr val="D3E0E0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8695944" y="4657344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10136124" y="4684776"/>
            <a:ext cx="1357884" cy="420624"/>
          </a:xfrm>
          <a:prstGeom prst="rect">
            <a:avLst/>
          </a:prstGeom>
          <a:solidFill>
            <a:srgbClr val="CEDBDC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10108692" y="4657344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50" dirty="0"/>
          </a:p>
        </p:txBody>
      </p:sp>
      <p:sp>
        <p:nvSpPr>
          <p:cNvPr id="76" name="Text 74"/>
          <p:cNvSpPr txBox="1"/>
          <p:nvPr/>
        </p:nvSpPr>
        <p:spPr>
          <a:xfrm>
            <a:off x="667512" y="5132832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Oakmont</a:t>
            </a:r>
            <a:endParaRPr lang="en-US" sz="1250" dirty="0"/>
          </a:p>
        </p:txBody>
      </p:sp>
      <p:sp>
        <p:nvSpPr>
          <p:cNvPr id="77" name="Shape 75"/>
          <p:cNvSpPr/>
          <p:nvPr/>
        </p:nvSpPr>
        <p:spPr>
          <a:xfrm>
            <a:off x="3072384" y="5160264"/>
            <a:ext cx="1357884" cy="420624"/>
          </a:xfrm>
          <a:prstGeom prst="rect">
            <a:avLst/>
          </a:prstGeom>
          <a:solidFill>
            <a:srgbClr val="A8B9BF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3044952" y="5132832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50" dirty="0"/>
          </a:p>
        </p:txBody>
      </p:sp>
      <p:sp>
        <p:nvSpPr>
          <p:cNvPr id="79" name="Shape 77"/>
          <p:cNvSpPr/>
          <p:nvPr/>
        </p:nvSpPr>
        <p:spPr>
          <a:xfrm>
            <a:off x="4485132" y="5160264"/>
            <a:ext cx="1357884" cy="420624"/>
          </a:xfrm>
          <a:prstGeom prst="rect">
            <a:avLst/>
          </a:prstGeom>
          <a:solidFill>
            <a:srgbClr val="AEBEC3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4457700" y="5132832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5897880" y="5160264"/>
            <a:ext cx="1357884" cy="420624"/>
          </a:xfrm>
          <a:prstGeom prst="rect">
            <a:avLst/>
          </a:prstGeom>
          <a:solidFill>
            <a:srgbClr val="B8C8CB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5870448" y="5132832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50" dirty="0"/>
          </a:p>
        </p:txBody>
      </p:sp>
      <p:sp>
        <p:nvSpPr>
          <p:cNvPr id="83" name="Shape 81"/>
          <p:cNvSpPr/>
          <p:nvPr/>
        </p:nvSpPr>
        <p:spPr>
          <a:xfrm>
            <a:off x="7310628" y="5160264"/>
            <a:ext cx="1357884" cy="420624"/>
          </a:xfrm>
          <a:prstGeom prst="rect">
            <a:avLst/>
          </a:prstGeom>
          <a:solidFill>
            <a:srgbClr val="C3D1D3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7283196" y="5132832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50" dirty="0"/>
          </a:p>
        </p:txBody>
      </p:sp>
      <p:sp>
        <p:nvSpPr>
          <p:cNvPr id="85" name="Shape 83"/>
          <p:cNvSpPr/>
          <p:nvPr/>
        </p:nvSpPr>
        <p:spPr>
          <a:xfrm>
            <a:off x="8723376" y="5160264"/>
            <a:ext cx="1357884" cy="420624"/>
          </a:xfrm>
          <a:prstGeom prst="rect">
            <a:avLst/>
          </a:prstGeom>
          <a:solidFill>
            <a:srgbClr val="C8D6D7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8695944" y="5132832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10136124" y="5160264"/>
            <a:ext cx="1357884" cy="420624"/>
          </a:xfrm>
          <a:prstGeom prst="rect">
            <a:avLst/>
          </a:prstGeom>
          <a:solidFill>
            <a:srgbClr val="C8D6D7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10108692" y="5132832"/>
            <a:ext cx="1412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50" dirty="0"/>
          </a:p>
        </p:txBody>
      </p:sp>
      <p:sp>
        <p:nvSpPr>
          <p:cNvPr id="89" name="Text 87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Halvard operations data (fictional)</a:t>
            </a:r>
            <a:endParaRPr lang="en-US" sz="1000" dirty="0"/>
          </a:p>
        </p:txBody>
      </p:sp>
      <p:sp>
        <p:nvSpPr>
          <p:cNvPr id="90" name="Text 88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91" name="Text 89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ACROSS THE NETWORK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depots sit well below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network average of 58%.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060448"/>
            <a:ext cx="10853928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utilisation, FY25 average.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76072" y="2633472"/>
          <a:ext cx="6766560" cy="33741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54112" y="2633472"/>
            <a:ext cx="3767328" cy="337413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74152" y="2962656"/>
            <a:ext cx="3127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Structural, not seasonal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074152" y="3246120"/>
            <a:ext cx="3127248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site moved more than 4 points in FY25.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074152" y="3840988"/>
            <a:ext cx="3127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clusters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074152" y="4124452"/>
            <a:ext cx="3127248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sites at 57–71%; three at 34–39%.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074152" y="4719320"/>
            <a:ext cx="3127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to receive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074152" y="5002784"/>
            <a:ext cx="3127248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Easton and Fairmont have the most spare dock hours.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Halvard operations data FY25 (fictional)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MIX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Lease and labour are 78% of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depot cost at the three sites.</a:t>
            </a:r>
            <a:endParaRPr lang="en-US" sz="4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76072" y="2279904"/>
          <a:ext cx="10853928" cy="2849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67512" y="5404104"/>
            <a:ext cx="10853928" cy="603504"/>
          </a:xfrm>
          <a:prstGeom prst="rect">
            <a:avLst/>
          </a:prstGeom>
          <a:solidFill>
            <a:srgbClr val="E3EFEC"/>
          </a:solidFill>
          <a:ln/>
        </p:spPr>
      </p:sp>
      <p:sp>
        <p:nvSpPr>
          <p:cNvPr id="7" name="Shape 4"/>
          <p:cNvSpPr/>
          <p:nvPr/>
        </p:nvSpPr>
        <p:spPr>
          <a:xfrm>
            <a:off x="667512" y="5404104"/>
            <a:ext cx="82296" cy="6035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24712" y="5404104"/>
            <a:ext cx="10030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is the only cost that rises after consolidation — and it is the smallest bar.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Halvard depot P&amp;L FY25 (fictional)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TREND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volume is flat; the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sites' volume is not.</a:t>
            </a:r>
            <a:endParaRPr lang="en-US" sz="4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76072" y="2279904"/>
          <a:ext cx="10853928" cy="37277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Halvard volume history (fictional)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Gross saving of $4.4M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nets to $4.1M after fuel.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060448"/>
            <a:ext cx="10853928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run-rate after transition, $M.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76072" y="2633472"/>
          <a:ext cx="6766560" cy="33741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54112" y="2633472"/>
            <a:ext cx="3767328" cy="33741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54112" y="2633472"/>
            <a:ext cx="3767328" cy="8229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982712" y="2935224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NOT IN THE BRIDGE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982712" y="3246120"/>
            <a:ext cx="3310128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costs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982712" y="3614928"/>
            <a:ext cx="3310128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$2.6M transition cost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inside eight months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exit penalties included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Transition model v3 (fictional)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DEPOT ON TWO AXES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sites are low on utilisation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high on cost to keep.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399032" y="2279904"/>
            <a:ext cx="2185264" cy="16809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27048" y="2371344"/>
            <a:ext cx="192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84296" y="2279904"/>
            <a:ext cx="2185264" cy="16809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12312" y="2371344"/>
            <a:ext cx="192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399032" y="3960876"/>
            <a:ext cx="2185264" cy="16809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27048" y="4052316"/>
            <a:ext cx="192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84296" y="3960876"/>
            <a:ext cx="2185264" cy="1680972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D5DB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12312" y="4052316"/>
            <a:ext cx="192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399032" y="5696712"/>
            <a:ext cx="4370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keep (lease + labour)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 rot="16200000">
            <a:off x="-693420" y="3777996"/>
            <a:ext cx="3361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399032" y="56967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38039" y="56967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1134" y="2509876"/>
            <a:ext cx="548640" cy="548640"/>
          </a:xfrm>
          <a:prstGeom prst="ellipse">
            <a:avLst/>
          </a:prstGeom>
          <a:solidFill>
            <a:srgbClr val="0E2A4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5494" y="2656180"/>
            <a:ext cx="5414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011275" y="2790932"/>
            <a:ext cx="457200" cy="457200"/>
          </a:xfrm>
          <a:prstGeom prst="ellipse">
            <a:avLst/>
          </a:prstGeom>
          <a:solidFill>
            <a:srgbClr val="0E2A4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89858" y="3266420"/>
            <a:ext cx="7000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Fairmont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964363" y="3609899"/>
            <a:ext cx="365760" cy="365760"/>
          </a:xfrm>
          <a:prstGeom prst="ellipse">
            <a:avLst/>
          </a:prstGeom>
          <a:solidFill>
            <a:srgbClr val="0E2A4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75843" y="3664763"/>
            <a:ext cx="58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Carlton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5837" y="3441802"/>
            <a:ext cx="365760" cy="365760"/>
          </a:xfrm>
          <a:prstGeom prst="ellipse">
            <a:avLst/>
          </a:prstGeom>
          <a:solidFill>
            <a:srgbClr val="0E2A4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914982" y="3807562"/>
            <a:ext cx="830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Westbrook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527310" y="3340943"/>
            <a:ext cx="365760" cy="365760"/>
          </a:xfrm>
          <a:prstGeom prst="ellipse">
            <a:avLst/>
          </a:prstGeom>
          <a:solidFill>
            <a:srgbClr val="0E2A4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429673" y="3066623"/>
            <a:ext cx="5610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Hallam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94047" y="4786579"/>
            <a:ext cx="365760" cy="365760"/>
          </a:xfrm>
          <a:prstGeom prst="ellipse">
            <a:avLst/>
          </a:prstGeom>
          <a:solidFill>
            <a:srgbClr val="0E2A47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05527" y="4841443"/>
            <a:ext cx="7396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Ridgeway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75521" y="4618482"/>
            <a:ext cx="365760" cy="365760"/>
          </a:xfrm>
          <a:prstGeom prst="ellipse">
            <a:avLst/>
          </a:prstGeom>
          <a:solidFill>
            <a:srgbClr val="0E2A47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091178" y="4344162"/>
            <a:ext cx="7344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Brookline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619942" y="4517624"/>
            <a:ext cx="365760" cy="365760"/>
          </a:xfrm>
          <a:prstGeom prst="ellipse">
            <a:avLst/>
          </a:prstGeom>
          <a:solidFill>
            <a:srgbClr val="0E2A47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45078" y="4901672"/>
            <a:ext cx="71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Oakmont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35319" y="2279904"/>
            <a:ext cx="5386121" cy="3361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35319" y="2279904"/>
            <a:ext cx="5386121" cy="8229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363919" y="2581656"/>
            <a:ext cx="49289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MATRIX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363919" y="2892552"/>
            <a:ext cx="4928921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Bottom-right is the case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363919" y="3246120"/>
            <a:ext cx="4928921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fixed cost, low use. The other six sites are either core or cheap enough to keep.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Halvard depot P&amp;L FY25 (fictional)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TIMELINE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 months from approval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the last lease exit.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227832" y="2279904"/>
            <a:ext cx="8293608" cy="36576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27832" y="2279904"/>
            <a:ext cx="921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149344" y="2279904"/>
            <a:ext cx="921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070856" y="2279904"/>
            <a:ext cx="921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92368" y="2279904"/>
            <a:ext cx="921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913880" y="2279904"/>
            <a:ext cx="921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835392" y="2279904"/>
            <a:ext cx="921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756904" y="2279904"/>
            <a:ext cx="921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678416" y="2279904"/>
            <a:ext cx="921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599928" y="2279904"/>
            <a:ext cx="921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" y="2682240"/>
            <a:ext cx="10853928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2682240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modelling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73552" y="2790871"/>
            <a:ext cx="1751584" cy="276515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18" name="Shape 16"/>
          <p:cNvSpPr/>
          <p:nvPr/>
        </p:nvSpPr>
        <p:spPr>
          <a:xfrm>
            <a:off x="667512" y="3176016"/>
            <a:ext cx="10853928" cy="49377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3176016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Brookline pilot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95064" y="3284647"/>
            <a:ext cx="1751584" cy="27651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5421884" y="3313176"/>
            <a:ext cx="219456" cy="219456"/>
          </a:xfrm>
          <a:prstGeom prst="diamond">
            <a:avLst/>
          </a:prstGeom>
          <a:solidFill>
            <a:srgbClr val="0E2A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77916" y="3176016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7512" y="3669792"/>
            <a:ext cx="10853928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3669792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consultation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116576" y="3778423"/>
            <a:ext cx="3594608" cy="2765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667512" y="4163568"/>
            <a:ext cx="10853928" cy="49377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4163568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and hiring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038088" y="4272199"/>
            <a:ext cx="3594608" cy="27651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Shape 27"/>
          <p:cNvSpPr/>
          <p:nvPr/>
        </p:nvSpPr>
        <p:spPr>
          <a:xfrm>
            <a:off x="667512" y="4657344"/>
            <a:ext cx="10853928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4657344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Oakmont exit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959600" y="4765975"/>
            <a:ext cx="830072" cy="27651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Shape 30"/>
          <p:cNvSpPr/>
          <p:nvPr/>
        </p:nvSpPr>
        <p:spPr>
          <a:xfrm>
            <a:off x="7264908" y="4794504"/>
            <a:ext cx="219456" cy="219456"/>
          </a:xfrm>
          <a:prstGeom prst="diamond">
            <a:avLst/>
          </a:prstGeom>
          <a:solidFill>
            <a:srgbClr val="0E2A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20940" y="4657344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end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67512" y="5151120"/>
            <a:ext cx="10853928" cy="49377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77240" y="5151120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Ridgeway, Brookline exit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802624" y="5259751"/>
            <a:ext cx="2673096" cy="27651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Shape 35"/>
          <p:cNvSpPr/>
          <p:nvPr/>
        </p:nvSpPr>
        <p:spPr>
          <a:xfrm>
            <a:off x="3227832" y="2682240"/>
            <a:ext cx="0" cy="2962656"/>
          </a:xfrm>
          <a:prstGeom prst="line">
            <a:avLst/>
          </a:prstGeom>
          <a:noFill/>
          <a:ln w="6350">
            <a:solidFill>
              <a:srgbClr val="D5DB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49344" y="2682240"/>
            <a:ext cx="0" cy="2962656"/>
          </a:xfrm>
          <a:prstGeom prst="line">
            <a:avLst/>
          </a:prstGeom>
          <a:noFill/>
          <a:ln w="6350">
            <a:solidFill>
              <a:srgbClr val="D5DB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70856" y="2682240"/>
            <a:ext cx="0" cy="2962656"/>
          </a:xfrm>
          <a:prstGeom prst="line">
            <a:avLst/>
          </a:prstGeom>
          <a:noFill/>
          <a:ln w="6350">
            <a:solidFill>
              <a:srgbClr val="D5DB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92368" y="2682240"/>
            <a:ext cx="0" cy="2962656"/>
          </a:xfrm>
          <a:prstGeom prst="line">
            <a:avLst/>
          </a:prstGeom>
          <a:noFill/>
          <a:ln w="6350">
            <a:solidFill>
              <a:srgbClr val="D5DB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13880" y="2682240"/>
            <a:ext cx="0" cy="2962656"/>
          </a:xfrm>
          <a:prstGeom prst="line">
            <a:avLst/>
          </a:prstGeom>
          <a:noFill/>
          <a:ln w="6350">
            <a:solidFill>
              <a:srgbClr val="D5DB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35392" y="2682240"/>
            <a:ext cx="0" cy="2962656"/>
          </a:xfrm>
          <a:prstGeom prst="line">
            <a:avLst/>
          </a:prstGeom>
          <a:noFill/>
          <a:ln w="6350">
            <a:solidFill>
              <a:srgbClr val="D5DB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56904" y="2682240"/>
            <a:ext cx="0" cy="2962656"/>
          </a:xfrm>
          <a:prstGeom prst="line">
            <a:avLst/>
          </a:prstGeom>
          <a:noFill/>
          <a:ln w="6350">
            <a:solidFill>
              <a:srgbClr val="D5DB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678416" y="2682240"/>
            <a:ext cx="0" cy="2962656"/>
          </a:xfrm>
          <a:prstGeom prst="line">
            <a:avLst/>
          </a:prstGeom>
          <a:noFill/>
          <a:ln w="6350">
            <a:solidFill>
              <a:srgbClr val="D5DB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599928" y="2682240"/>
            <a:ext cx="0" cy="2962656"/>
          </a:xfrm>
          <a:prstGeom prst="line">
            <a:avLst/>
          </a:prstGeom>
          <a:noFill/>
          <a:ln w="6350">
            <a:solidFill>
              <a:srgbClr val="D5DB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88588" y="2645664"/>
            <a:ext cx="0" cy="2999232"/>
          </a:xfrm>
          <a:prstGeom prst="line">
            <a:avLst/>
          </a:prstGeom>
          <a:noFill/>
          <a:ln w="22225">
            <a:solidFill>
              <a:srgbClr val="0E2A47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322828" y="5672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Transition plan v2 (fictional)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AND FINANCIAL IMPACT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Savings start in month four and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 run-rate in month ten.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2898648" y="2279904"/>
            <a:ext cx="1725930" cy="36576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953512" y="2279904"/>
            <a:ext cx="16162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97730" y="2279904"/>
            <a:ext cx="1725930" cy="36576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52594" y="2279904"/>
            <a:ext cx="16162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6812" y="2279904"/>
            <a:ext cx="1725930" cy="36576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51676" y="2279904"/>
            <a:ext cx="16162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27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95894" y="2279904"/>
            <a:ext cx="1725930" cy="36576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50758" y="2279904"/>
            <a:ext cx="16162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0" y="22799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Run-rate ($M/yr)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67512" y="2755392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Re-route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07792" y="2828544"/>
            <a:ext cx="1707642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07792" y="2828544"/>
            <a:ext cx="8229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054096" y="2828544"/>
            <a:ext cx="14881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and pilot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6874" y="2828544"/>
            <a:ext cx="1707642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6874" y="2828544"/>
            <a:ext cx="8229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53178" y="2828544"/>
            <a:ext cx="14881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0" y="275539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7512" y="3468624"/>
            <a:ext cx="10853928" cy="0"/>
          </a:xfrm>
          <a:prstGeom prst="line">
            <a:avLst/>
          </a:prstGeom>
          <a:noFill/>
          <a:ln w="9525">
            <a:solidFill>
              <a:srgbClr val="D5DB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" y="3468624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6874" y="3541776"/>
            <a:ext cx="3506724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6874" y="3541776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53178" y="3541776"/>
            <a:ext cx="32872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Consult, transfer, hire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0" y="3468624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7512" y="4181856"/>
            <a:ext cx="10853928" cy="0"/>
          </a:xfrm>
          <a:prstGeom prst="line">
            <a:avLst/>
          </a:prstGeom>
          <a:noFill/>
          <a:ln w="9525">
            <a:solidFill>
              <a:srgbClr val="D5DB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" y="4181856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06874" y="4255008"/>
            <a:ext cx="1707642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6874" y="4255008"/>
            <a:ext cx="8229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853178" y="4255008"/>
            <a:ext cx="14881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Oakmont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505956" y="4255008"/>
            <a:ext cx="3506724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05956" y="4255008"/>
            <a:ext cx="8229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652260" y="4255008"/>
            <a:ext cx="32872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Ridgeway, Brookline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058400" y="4181856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67512" y="4895088"/>
            <a:ext cx="10853928" cy="0"/>
          </a:xfrm>
          <a:prstGeom prst="line">
            <a:avLst/>
          </a:prstGeom>
          <a:noFill/>
          <a:ln w="9525">
            <a:solidFill>
              <a:srgbClr val="D5DBE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7512" y="4895088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505956" y="4968240"/>
            <a:ext cx="3506724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505956" y="4968240"/>
            <a:ext cx="8229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652260" y="4968240"/>
            <a:ext cx="32872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and insurance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10058400" y="489508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67512" y="5608320"/>
            <a:ext cx="10853928" cy="0"/>
          </a:xfrm>
          <a:prstGeom prst="line">
            <a:avLst/>
          </a:prstGeom>
          <a:noFill/>
          <a:ln w="9525">
            <a:solidFill>
              <a:srgbClr val="D5DBE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Transition model v3 (fictional)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WHAT, WHEN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workstreams run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across three phases.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2862072" y="2279904"/>
            <a:ext cx="2849880" cy="493776"/>
          </a:xfrm>
          <a:prstGeom prst="homePlate">
            <a:avLst/>
          </a:prstGeom>
          <a:solidFill>
            <a:srgbClr val="C9D6E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026664" y="2279904"/>
            <a:ext cx="252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Re-route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48528" y="2279904"/>
            <a:ext cx="2849880" cy="493776"/>
          </a:xfrm>
          <a:prstGeom prst="chevron">
            <a:avLst/>
          </a:prstGeom>
          <a:solidFill>
            <a:srgbClr val="C9D6E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06536" y="2279904"/>
            <a:ext cx="253386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 and transfer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34984" y="2279904"/>
            <a:ext cx="2849880" cy="493776"/>
          </a:xfrm>
          <a:prstGeom prst="chevron">
            <a:avLst/>
          </a:prstGeom>
          <a:solidFill>
            <a:srgbClr val="0E2A4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792992" y="2279904"/>
            <a:ext cx="253386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and exit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9565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2956560"/>
            <a:ext cx="2612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model, pilot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858256" y="2956560"/>
            <a:ext cx="2612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both sites in parallel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744712" y="2956560"/>
            <a:ext cx="2612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Single-site running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7512" y="3477768"/>
            <a:ext cx="10853928" cy="0"/>
          </a:xfrm>
          <a:prstGeom prst="line">
            <a:avLst/>
          </a:prstGeom>
          <a:noFill/>
          <a:ln w="9525">
            <a:solidFill>
              <a:srgbClr val="D5DB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" y="354177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971800" y="3541776"/>
            <a:ext cx="2612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the plan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858256" y="3541776"/>
            <a:ext cx="2612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Consultation, offers, hiring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744712" y="3541776"/>
            <a:ext cx="2612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transfers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7512" y="4062984"/>
            <a:ext cx="10853928" cy="0"/>
          </a:xfrm>
          <a:prstGeom prst="line">
            <a:avLst/>
          </a:prstGeom>
          <a:noFill/>
          <a:ln w="9525">
            <a:solidFill>
              <a:srgbClr val="D5DB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" y="4126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971800" y="4126992"/>
            <a:ext cx="2612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periods confirmed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858256" y="4126992"/>
            <a:ext cx="2612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Oakmont handback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744712" y="4126992"/>
            <a:ext cx="2612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Ridgeway and Brookline exit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67512" y="4648200"/>
            <a:ext cx="10853928" cy="0"/>
          </a:xfrm>
          <a:prstGeom prst="line">
            <a:avLst/>
          </a:prstGeom>
          <a:noFill/>
          <a:ln w="9525">
            <a:solidFill>
              <a:srgbClr val="D5DB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" y="47122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971800" y="4712208"/>
            <a:ext cx="2612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and tracking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858256" y="4712208"/>
            <a:ext cx="2612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benefit reporting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744712" y="4712208"/>
            <a:ext cx="2612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Close-out and audit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67512" y="5233416"/>
            <a:ext cx="10853928" cy="0"/>
          </a:xfrm>
          <a:prstGeom prst="line">
            <a:avLst/>
          </a:prstGeom>
          <a:noFill/>
          <a:ln w="9525">
            <a:solidFill>
              <a:srgbClr val="D5DB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benefits outweigh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costs by year two.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67512" y="2279904"/>
            <a:ext cx="4558650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2279904"/>
            <a:ext cx="4558650" cy="8229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2581656"/>
            <a:ext cx="41014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892552"/>
            <a:ext cx="4101450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$2.6M one-time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261360"/>
            <a:ext cx="4101450" cy="1624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Lease exit penalties $1.1M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Severance and transfer $0.9M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Re-routing and pilot $0.4M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Systems and moves $0.2M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62790" y="2691384"/>
            <a:ext cx="4558650" cy="2788920"/>
          </a:xfrm>
          <a:prstGeom prst="rect">
            <a:avLst/>
          </a:prstGeom>
          <a:solidFill>
            <a:srgbClr val="0E2A47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62790" y="2691384"/>
            <a:ext cx="4558650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91390" y="2993136"/>
            <a:ext cx="41014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191390" y="3304032"/>
            <a:ext cx="4101450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$4.1M a year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191390" y="3672840"/>
            <a:ext cx="4101450" cy="1624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Lease and facilities $2.3M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Labour $1.6M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Overhead $0.5M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 fuel $0.3M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20156" y="5480304"/>
            <a:ext cx="548640" cy="411480"/>
          </a:xfrm>
          <a:prstGeom prst="triangle">
            <a:avLst/>
          </a:prstGeom>
          <a:solidFill>
            <a:srgbClr val="0E2A47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3272" y="5526024"/>
            <a:ext cx="10122408" cy="0"/>
          </a:xfrm>
          <a:prstGeom prst="line">
            <a:avLst/>
          </a:prstGeom>
          <a:noFill/>
          <a:ln w="38100">
            <a:solidFill>
              <a:srgbClr val="0E2A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Transition model v3 (fictional)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PLANNING MATURITY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7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Halvard plans depot by depot; the</a:t>
            </a:r>
            <a:endParaRPr lang="en-US" sz="37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7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requires network-level planning.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704088" y="4447032"/>
            <a:ext cx="2640330" cy="1216152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13816" y="4538472"/>
            <a:ext cx="24208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4885944"/>
            <a:ext cx="242087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depot plans its own routes.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5736336"/>
            <a:ext cx="27134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7570" y="3694176"/>
            <a:ext cx="2640330" cy="1969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7298" y="3785616"/>
            <a:ext cx="24208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27298" y="4133088"/>
            <a:ext cx="242087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Depots share a weekly plan.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380994" y="5736336"/>
            <a:ext cx="27134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31052" y="2941320"/>
            <a:ext cx="2640330" cy="2721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40780" y="3032760"/>
            <a:ext cx="24208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40780" y="3380232"/>
            <a:ext cx="2420874" cy="2228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planner, one order book.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094476" y="5736336"/>
            <a:ext cx="27134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44534" y="2188464"/>
            <a:ext cx="264033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54262" y="2279904"/>
            <a:ext cx="24208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54262" y="2627376"/>
            <a:ext cx="2420874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rebalances weekly on the model.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807958" y="5736336"/>
            <a:ext cx="27134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Planning maturity assessment, Aug 2026 (fictional)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CONSIGNMENT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cost falls until a site passes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 utilisation, then rises.</a:t>
            </a:r>
            <a:endParaRPr lang="en-US" sz="4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76072" y="2279904"/>
          <a:ext cx="6766560" cy="37277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017443" y="2645664"/>
            <a:ext cx="1463040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72307" y="2645664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70–80%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754112" y="2279904"/>
            <a:ext cx="3767328" cy="37277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54112" y="2279904"/>
            <a:ext cx="3767328" cy="8229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982712" y="258165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CURVE TURNS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982712" y="2892552"/>
            <a:ext cx="3310128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costs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982712" y="3261360"/>
            <a:ext cx="3310128" cy="2563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80%, waiting time and overtime outrun the fixed-cost saving.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Halvard cost model (fictional)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PLANNING STACK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planning tool,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feeding every depot.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67512" y="2334768"/>
            <a:ext cx="146304" cy="146304"/>
          </a:xfrm>
          <a:prstGeom prst="rect">
            <a:avLst/>
          </a:prstGeom>
          <a:solidFill>
            <a:srgbClr val="0D9488"/>
          </a:solidFill>
          <a:ln w="9525">
            <a:solidFill>
              <a:srgbClr val="5A6B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2261616"/>
            <a:ext cx="685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38579" y="2334768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5A6B7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58035" y="2261616"/>
            <a:ext cx="768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7512" y="2663952"/>
            <a:ext cx="5266944" cy="1173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" y="2663952"/>
            <a:ext cx="5266944" cy="8229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846832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INTAKE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102864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order book for the network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8680" y="3413760"/>
            <a:ext cx="2386584" cy="2956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3544" y="3413760"/>
            <a:ext cx="227685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TMS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46704" y="3413760"/>
            <a:ext cx="2386584" cy="295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01568" y="3413760"/>
            <a:ext cx="227685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TMS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54496" y="2663952"/>
            <a:ext cx="5266944" cy="1173480"/>
          </a:xfrm>
          <a:prstGeom prst="rect">
            <a:avLst/>
          </a:prstGeom>
          <a:solidFill>
            <a:srgbClr val="0E2A47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54496" y="2663952"/>
            <a:ext cx="5266944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55664" y="2846832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PLANNING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55664" y="3102864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planning replaces depot planning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55664" y="3413760"/>
            <a:ext cx="2386584" cy="2956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10528" y="3413760"/>
            <a:ext cx="227685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module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33688" y="3413760"/>
            <a:ext cx="2386584" cy="295656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88552" y="3413760"/>
            <a:ext cx="227685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optimiser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67512" y="4002024"/>
            <a:ext cx="5266944" cy="1173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7512" y="4002024"/>
            <a:ext cx="5266944" cy="8229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8680" y="4184904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 EXECUTION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4440936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docks and drivers work the plan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68680" y="4751832"/>
            <a:ext cx="2386584" cy="2956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23544" y="4751832"/>
            <a:ext cx="227685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yard system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346704" y="4751832"/>
            <a:ext cx="2386584" cy="295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01568" y="4751832"/>
            <a:ext cx="227685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yard system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54496" y="4002024"/>
            <a:ext cx="5266944" cy="1173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54496" y="4002024"/>
            <a:ext cx="5266944" cy="8229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55664" y="4184904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55664" y="4440936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per dock per day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55664" y="4751832"/>
            <a:ext cx="2386584" cy="2956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10528" y="4751832"/>
            <a:ext cx="227685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BI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933688" y="4751832"/>
            <a:ext cx="2386584" cy="295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988552" y="4751832"/>
            <a:ext cx="227685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dashboard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67512" y="5449824"/>
            <a:ext cx="10853928" cy="603504"/>
          </a:xfrm>
          <a:prstGeom prst="rect">
            <a:avLst/>
          </a:prstGeom>
          <a:solidFill>
            <a:srgbClr val="E3EFEC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449824"/>
            <a:ext cx="82296" cy="6035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124712" y="5449824"/>
            <a:ext cx="10030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platform is required — the planning module is a licence, not a project.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PLANNING SYSTEM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route planner sits between the order book</a:t>
            </a:r>
            <a:endParaRPr lang="en-US" sz="3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depots, with finance and HR alongside.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4974336" y="2005584"/>
            <a:ext cx="2240280" cy="373684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6" name="Shape 4"/>
          <p:cNvSpPr/>
          <p:nvPr/>
        </p:nvSpPr>
        <p:spPr>
          <a:xfrm>
            <a:off x="4974336" y="2005584"/>
            <a:ext cx="2240280" cy="822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75504" y="2261616"/>
            <a:ext cx="183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HUB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175504" y="2554224"/>
            <a:ext cx="18379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 planner</a:t>
            </a:r>
            <a:endParaRPr lang="en-US" sz="2550" dirty="0"/>
          </a:p>
        </p:txBody>
      </p:sp>
      <p:sp>
        <p:nvSpPr>
          <p:cNvPr id="9" name="Text 7"/>
          <p:cNvSpPr txBox="1"/>
          <p:nvPr/>
        </p:nvSpPr>
        <p:spPr>
          <a:xfrm>
            <a:off x="5175504" y="3422904"/>
            <a:ext cx="1837944" cy="99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planning run for the whole network, replacing nine depot schedules.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175504" y="4553712"/>
            <a:ext cx="183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75504" y="4828032"/>
            <a:ext cx="1837944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30368" y="4828032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TMS licence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75504" y="5193792"/>
            <a:ext cx="1837944" cy="292608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30368" y="5193792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data warehouse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67512" y="2005584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AND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" y="2316480"/>
            <a:ext cx="3374136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86784" y="2316480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2398776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19" name="Image 0" descr="/home/claude/skills/firstchair-consulting-deck/assets/icons/navy/in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707" y="2479243"/>
            <a:ext cx="204826" cy="204826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216152" y="2316480"/>
            <a:ext cx="2679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book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Consignments by day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67512" y="2919984"/>
            <a:ext cx="3374136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986784" y="2919984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Shape 20"/>
          <p:cNvSpPr/>
          <p:nvPr/>
        </p:nvSpPr>
        <p:spPr>
          <a:xfrm>
            <a:off x="777240" y="3002280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24" name="Image 1" descr="/home/claude/skills/firstchair-consulting-deck/assets/icons/navy/loc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07" y="3082747"/>
            <a:ext cx="204826" cy="204826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216152" y="2919984"/>
            <a:ext cx="2679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Telematics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Truck positions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67512" y="3523488"/>
            <a:ext cx="3374136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986784" y="3523488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Shape 24"/>
          <p:cNvSpPr/>
          <p:nvPr/>
        </p:nvSpPr>
        <p:spPr>
          <a:xfrm>
            <a:off x="777240" y="3605784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29" name="Image 2" descr="/home/claude/skills/firstchair-consulting-deck/assets/icons/navy/pers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" y="3686251"/>
            <a:ext cx="204826" cy="204826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216152" y="3523488"/>
            <a:ext cx="2679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master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Delivery windows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224528" y="2581656"/>
            <a:ext cx="109728" cy="0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224528" y="3185160"/>
            <a:ext cx="109728" cy="0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224528" y="3788664"/>
            <a:ext cx="109728" cy="0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334256" y="2581656"/>
            <a:ext cx="0" cy="1207008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4334256" y="3185160"/>
            <a:ext cx="640080" cy="0"/>
          </a:xfrm>
          <a:prstGeom prst="line">
            <a:avLst/>
          </a:prstGeom>
          <a:noFill/>
          <a:ln w="22225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36" name="Text 31"/>
          <p:cNvSpPr txBox="1"/>
          <p:nvPr/>
        </p:nvSpPr>
        <p:spPr>
          <a:xfrm>
            <a:off x="4370832" y="278282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667512" y="4328160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667512" y="4639056"/>
            <a:ext cx="3374136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3986784" y="4639056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Shape 35"/>
          <p:cNvSpPr/>
          <p:nvPr/>
        </p:nvSpPr>
        <p:spPr>
          <a:xfrm>
            <a:off x="777240" y="4721352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41" name="Image 3" descr="/home/claude/skills/firstchair-consulting-deck/assets/icons/navy/doll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" y="4801819"/>
            <a:ext cx="204826" cy="204826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1216152" y="4639056"/>
            <a:ext cx="2679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Cost per drop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667512" y="5242560"/>
            <a:ext cx="3374136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3986784" y="5242560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5" name="Shape 39"/>
          <p:cNvSpPr/>
          <p:nvPr/>
        </p:nvSpPr>
        <p:spPr>
          <a:xfrm>
            <a:off x="777240" y="5324856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46" name="Image 4" descr="/home/claude/skills/firstchair-consulting-deck/assets/icons/navy/calend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" y="5405323"/>
            <a:ext cx="204826" cy="204826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1216152" y="5242560"/>
            <a:ext cx="2679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rota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Driver hours</a:t>
            </a:r>
            <a:endParaRPr lang="en-US" sz="1050" dirty="0"/>
          </a:p>
        </p:txBody>
      </p:sp>
      <p:sp>
        <p:nvSpPr>
          <p:cNvPr id="48" name="Shape 41"/>
          <p:cNvSpPr/>
          <p:nvPr/>
        </p:nvSpPr>
        <p:spPr>
          <a:xfrm>
            <a:off x="4224528" y="4904232"/>
            <a:ext cx="109728" cy="0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4224528" y="5507736"/>
            <a:ext cx="109728" cy="0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4334256" y="4904232"/>
            <a:ext cx="0" cy="603504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4334256" y="5205984"/>
            <a:ext cx="640080" cy="0"/>
          </a:xfrm>
          <a:prstGeom prst="line">
            <a:avLst/>
          </a:prstGeom>
          <a:noFill/>
          <a:ln w="22225">
            <a:solidFill>
              <a:srgbClr val="5A6B7B"/>
            </a:solidFill>
            <a:prstDash val="solid"/>
            <a:headEnd type="triangle"/>
            <a:tailEnd type="triangle"/>
          </a:ln>
        </p:spPr>
      </p:sp>
      <p:sp>
        <p:nvSpPr>
          <p:cNvPr id="52" name="Text 45"/>
          <p:cNvSpPr txBox="1"/>
          <p:nvPr/>
        </p:nvSpPr>
        <p:spPr>
          <a:xfrm>
            <a:off x="4370832" y="480364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1000" dirty="0"/>
          </a:p>
        </p:txBody>
      </p:sp>
      <p:sp>
        <p:nvSpPr>
          <p:cNvPr id="53" name="Text 46"/>
          <p:cNvSpPr txBox="1"/>
          <p:nvPr/>
        </p:nvSpPr>
        <p:spPr>
          <a:xfrm>
            <a:off x="7964424" y="2292096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6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54" name="Shape 47"/>
          <p:cNvSpPr/>
          <p:nvPr/>
        </p:nvSpPr>
        <p:spPr>
          <a:xfrm>
            <a:off x="8147304" y="2602992"/>
            <a:ext cx="3374136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55" name="Shape 48"/>
          <p:cNvSpPr/>
          <p:nvPr/>
        </p:nvSpPr>
        <p:spPr>
          <a:xfrm>
            <a:off x="8147304" y="2602992"/>
            <a:ext cx="54864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6" name="Shape 49"/>
          <p:cNvSpPr/>
          <p:nvPr/>
        </p:nvSpPr>
        <p:spPr>
          <a:xfrm>
            <a:off x="8293608" y="2685288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57" name="Image 5" descr="/home/claude/skills/firstchair-consulting-deck/assets/icons/navy/warehou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4075" y="2765755"/>
            <a:ext cx="204826" cy="204826"/>
          </a:xfrm>
          <a:prstGeom prst="rect">
            <a:avLst/>
          </a:prstGeom>
        </p:spPr>
      </p:pic>
      <p:sp>
        <p:nvSpPr>
          <p:cNvPr id="58" name="Text 50"/>
          <p:cNvSpPr txBox="1"/>
          <p:nvPr/>
        </p:nvSpPr>
        <p:spPr>
          <a:xfrm>
            <a:off x="8732520" y="2602992"/>
            <a:ext cx="2642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 yard system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Dock allocation</a:t>
            </a:r>
            <a:endParaRPr lang="en-US" sz="1050" dirty="0"/>
          </a:p>
        </p:txBody>
      </p:sp>
      <p:sp>
        <p:nvSpPr>
          <p:cNvPr id="59" name="Shape 51"/>
          <p:cNvSpPr/>
          <p:nvPr/>
        </p:nvSpPr>
        <p:spPr>
          <a:xfrm>
            <a:off x="8147304" y="3206496"/>
            <a:ext cx="3374136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60" name="Shape 52"/>
          <p:cNvSpPr/>
          <p:nvPr/>
        </p:nvSpPr>
        <p:spPr>
          <a:xfrm>
            <a:off x="8147304" y="3206496"/>
            <a:ext cx="54864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1" name="Shape 53"/>
          <p:cNvSpPr/>
          <p:nvPr/>
        </p:nvSpPr>
        <p:spPr>
          <a:xfrm>
            <a:off x="8293608" y="3288792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62" name="Image 6" descr="/home/claude/skills/firstchair-consulting-deck/assets/icons/navy/mobi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4075" y="3369259"/>
            <a:ext cx="204826" cy="204826"/>
          </a:xfrm>
          <a:prstGeom prst="rect">
            <a:avLst/>
          </a:prstGeom>
        </p:spPr>
      </p:pic>
      <p:sp>
        <p:nvSpPr>
          <p:cNvPr id="63" name="Text 54"/>
          <p:cNvSpPr txBox="1"/>
          <p:nvPr/>
        </p:nvSpPr>
        <p:spPr>
          <a:xfrm>
            <a:off x="8732520" y="3206496"/>
            <a:ext cx="2642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app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Route and stops</a:t>
            </a:r>
            <a:endParaRPr lang="en-US" sz="1050" dirty="0"/>
          </a:p>
        </p:txBody>
      </p:sp>
      <p:sp>
        <p:nvSpPr>
          <p:cNvPr id="64" name="Shape 55"/>
          <p:cNvSpPr/>
          <p:nvPr/>
        </p:nvSpPr>
        <p:spPr>
          <a:xfrm>
            <a:off x="8037576" y="2868168"/>
            <a:ext cx="109728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65" name="Shape 56"/>
          <p:cNvSpPr/>
          <p:nvPr/>
        </p:nvSpPr>
        <p:spPr>
          <a:xfrm>
            <a:off x="8037576" y="3471672"/>
            <a:ext cx="109728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66" name="Shape 57"/>
          <p:cNvSpPr/>
          <p:nvPr/>
        </p:nvSpPr>
        <p:spPr>
          <a:xfrm>
            <a:off x="8037576" y="2868168"/>
            <a:ext cx="0" cy="60350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67" name="Shape 58"/>
          <p:cNvSpPr/>
          <p:nvPr/>
        </p:nvSpPr>
        <p:spPr>
          <a:xfrm>
            <a:off x="7214616" y="3169920"/>
            <a:ext cx="82296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68" name="Text 59"/>
          <p:cNvSpPr txBox="1"/>
          <p:nvPr/>
        </p:nvSpPr>
        <p:spPr>
          <a:xfrm>
            <a:off x="7251192" y="2767584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plans</a:t>
            </a:r>
            <a:endParaRPr lang="en-US" sz="1000" dirty="0"/>
          </a:p>
        </p:txBody>
      </p:sp>
      <p:sp>
        <p:nvSpPr>
          <p:cNvPr id="69" name="Text 60"/>
          <p:cNvSpPr txBox="1"/>
          <p:nvPr/>
        </p:nvSpPr>
        <p:spPr>
          <a:xfrm>
            <a:off x="7964424" y="4011168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00" dirty="0"/>
          </a:p>
        </p:txBody>
      </p:sp>
      <p:sp>
        <p:nvSpPr>
          <p:cNvPr id="70" name="Shape 61"/>
          <p:cNvSpPr/>
          <p:nvPr/>
        </p:nvSpPr>
        <p:spPr>
          <a:xfrm>
            <a:off x="8147304" y="4322064"/>
            <a:ext cx="3374136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71" name="Shape 62"/>
          <p:cNvSpPr/>
          <p:nvPr/>
        </p:nvSpPr>
        <p:spPr>
          <a:xfrm>
            <a:off x="8147304" y="4322064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2" name="Shape 63"/>
          <p:cNvSpPr/>
          <p:nvPr/>
        </p:nvSpPr>
        <p:spPr>
          <a:xfrm>
            <a:off x="8293608" y="4404360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73" name="Image 7" descr="/home/claude/skills/firstchair-consulting-deck/assets/icons/navy/dashboar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4075" y="4484827"/>
            <a:ext cx="204826" cy="204826"/>
          </a:xfrm>
          <a:prstGeom prst="rect">
            <a:avLst/>
          </a:prstGeom>
        </p:spPr>
      </p:pic>
      <p:sp>
        <p:nvSpPr>
          <p:cNvPr id="74" name="Text 64"/>
          <p:cNvSpPr txBox="1"/>
          <p:nvPr/>
        </p:nvSpPr>
        <p:spPr>
          <a:xfrm>
            <a:off x="8732520" y="4322064"/>
            <a:ext cx="2642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dashboard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Utilisation by dock</a:t>
            </a:r>
            <a:endParaRPr lang="en-US" sz="1050" dirty="0"/>
          </a:p>
        </p:txBody>
      </p:sp>
      <p:sp>
        <p:nvSpPr>
          <p:cNvPr id="75" name="Shape 65"/>
          <p:cNvSpPr/>
          <p:nvPr/>
        </p:nvSpPr>
        <p:spPr>
          <a:xfrm>
            <a:off x="8147304" y="4925568"/>
            <a:ext cx="3374136" cy="530352"/>
          </a:xfrm>
          <a:prstGeom prst="rect">
            <a:avLst/>
          </a:prstGeom>
          <a:solidFill>
            <a:srgbClr val="F6F7F5"/>
          </a:solidFill>
          <a:ln w="12700">
            <a:solidFill>
              <a:srgbClr val="5A6B7B"/>
            </a:solidFill>
            <a:prstDash val="dash"/>
          </a:ln>
        </p:spPr>
      </p:sp>
      <p:sp>
        <p:nvSpPr>
          <p:cNvPr id="76" name="Shape 66"/>
          <p:cNvSpPr/>
          <p:nvPr/>
        </p:nvSpPr>
        <p:spPr>
          <a:xfrm>
            <a:off x="8293608" y="5007864"/>
            <a:ext cx="365760" cy="36576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77" name="Image 8" descr="/home/claude/skills/firstchair-consulting-deck/assets/icons/white/glob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4075" y="5088331"/>
            <a:ext cx="204826" cy="204826"/>
          </a:xfrm>
          <a:prstGeom prst="rect">
            <a:avLst/>
          </a:prstGeom>
        </p:spPr>
      </p:pic>
      <p:sp>
        <p:nvSpPr>
          <p:cNvPr id="78" name="Text 67"/>
          <p:cNvSpPr txBox="1"/>
          <p:nvPr/>
        </p:nvSpPr>
        <p:spPr>
          <a:xfrm>
            <a:off x="8695944" y="4925568"/>
            <a:ext cx="2112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reporting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Emissions by route</a:t>
            </a:r>
            <a:endParaRPr lang="en-US" sz="1050" dirty="0"/>
          </a:p>
        </p:txBody>
      </p:sp>
      <p:sp>
        <p:nvSpPr>
          <p:cNvPr id="79" name="Shape 68"/>
          <p:cNvSpPr/>
          <p:nvPr/>
        </p:nvSpPr>
        <p:spPr>
          <a:xfrm>
            <a:off x="10863072" y="5062728"/>
            <a:ext cx="56692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0"/>
            </a:solidFill>
            <a:prstDash val="solid"/>
          </a:ln>
        </p:spPr>
      </p:sp>
      <p:sp>
        <p:nvSpPr>
          <p:cNvPr id="80" name="Text 69"/>
          <p:cNvSpPr txBox="1"/>
          <p:nvPr/>
        </p:nvSpPr>
        <p:spPr>
          <a:xfrm>
            <a:off x="10917936" y="5062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81" name="Shape 70"/>
          <p:cNvSpPr/>
          <p:nvPr/>
        </p:nvSpPr>
        <p:spPr>
          <a:xfrm>
            <a:off x="8037576" y="4587240"/>
            <a:ext cx="109728" cy="0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82" name="Shape 71"/>
          <p:cNvSpPr/>
          <p:nvPr/>
        </p:nvSpPr>
        <p:spPr>
          <a:xfrm>
            <a:off x="8037576" y="5190744"/>
            <a:ext cx="109728" cy="0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83" name="Shape 72"/>
          <p:cNvSpPr/>
          <p:nvPr/>
        </p:nvSpPr>
        <p:spPr>
          <a:xfrm>
            <a:off x="8037576" y="4587240"/>
            <a:ext cx="0" cy="603504"/>
          </a:xfrm>
          <a:prstGeom prst="line">
            <a:avLst/>
          </a:prstGeom>
          <a:noFill/>
          <a:ln w="12700">
            <a:solidFill>
              <a:srgbClr val="5A6B7B"/>
            </a:solidFill>
            <a:prstDash val="solid"/>
          </a:ln>
        </p:spPr>
      </p:sp>
      <p:sp>
        <p:nvSpPr>
          <p:cNvPr id="84" name="Shape 73"/>
          <p:cNvSpPr/>
          <p:nvPr/>
        </p:nvSpPr>
        <p:spPr>
          <a:xfrm>
            <a:off x="7214616" y="4888992"/>
            <a:ext cx="822960" cy="0"/>
          </a:xfrm>
          <a:prstGeom prst="line">
            <a:avLst/>
          </a:prstGeom>
          <a:noFill/>
          <a:ln w="22225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85" name="Text 74"/>
          <p:cNvSpPr txBox="1"/>
          <p:nvPr/>
        </p:nvSpPr>
        <p:spPr>
          <a:xfrm>
            <a:off x="7251192" y="4486656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00" dirty="0"/>
          </a:p>
        </p:txBody>
      </p:sp>
      <p:sp>
        <p:nvSpPr>
          <p:cNvPr id="86" name="Text 75"/>
          <p:cNvSpPr txBox="1"/>
          <p:nvPr/>
        </p:nvSpPr>
        <p:spPr>
          <a:xfrm>
            <a:off x="667512" y="5797296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show which way information moves   ·   Dashed: planned, not yet connected</a:t>
            </a:r>
            <a:endParaRPr lang="en-US" sz="1050" dirty="0"/>
          </a:p>
        </p:txBody>
      </p:sp>
      <p:sp>
        <p:nvSpPr>
          <p:cNvPr id="87" name="Text 76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Planning systems inventory, Aug 2026 (fictional)</a:t>
            </a:r>
            <a:endParaRPr lang="en-US" sz="1000" dirty="0"/>
          </a:p>
        </p:txBody>
      </p:sp>
      <p:sp>
        <p:nvSpPr>
          <p:cNvPr id="88" name="Text 77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89" name="Text 78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ANALOGY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already did this with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warehouses in 2021.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67512" y="2279904"/>
            <a:ext cx="5198364" cy="38404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2376" y="2279904"/>
            <a:ext cx="50886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WAREHOUSES, 2021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23076" y="2279904"/>
            <a:ext cx="5198364" cy="38404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77940" y="2279904"/>
            <a:ext cx="50886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DEPOTS, 2027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7512" y="2828544"/>
            <a:ext cx="5198364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96112" y="2828544"/>
            <a:ext cx="47411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warehouses, four below 50% used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23076" y="2828544"/>
            <a:ext cx="5198364" cy="676656"/>
          </a:xfrm>
          <a:prstGeom prst="rect">
            <a:avLst/>
          </a:prstGeom>
          <a:solidFill>
            <a:srgbClr val="E3EFEC"/>
          </a:solidFill>
          <a:ln/>
        </p:spPr>
      </p:sp>
      <p:sp>
        <p:nvSpPr>
          <p:cNvPr id="12" name="Shape 10"/>
          <p:cNvSpPr/>
          <p:nvPr/>
        </p:nvSpPr>
        <p:spPr>
          <a:xfrm>
            <a:off x="6323076" y="2828544"/>
            <a:ext cx="82296" cy="6766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79108" y="2828544"/>
            <a:ext cx="47411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depots, three below 40% used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39028" y="3166872"/>
            <a:ext cx="310896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67512" y="3633216"/>
            <a:ext cx="5198364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96112" y="3633216"/>
            <a:ext cx="47411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to seven over twelve months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23076" y="3633216"/>
            <a:ext cx="5198364" cy="676656"/>
          </a:xfrm>
          <a:prstGeom prst="rect">
            <a:avLst/>
          </a:prstGeom>
          <a:solidFill>
            <a:srgbClr val="E3EFEC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3076" y="3633216"/>
            <a:ext cx="82296" cy="6766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79108" y="3633216"/>
            <a:ext cx="47411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to six over nine months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39028" y="3971544"/>
            <a:ext cx="310896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67512" y="4437888"/>
            <a:ext cx="5198364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96112" y="4437888"/>
            <a:ext cx="47411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$6M a year, service unchanged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23076" y="4437888"/>
            <a:ext cx="5198364" cy="676656"/>
          </a:xfrm>
          <a:prstGeom prst="rect">
            <a:avLst/>
          </a:prstGeom>
          <a:solidFill>
            <a:srgbClr val="E3EFEC"/>
          </a:solidFill>
          <a:ln/>
        </p:spPr>
      </p:sp>
      <p:sp>
        <p:nvSpPr>
          <p:cNvPr id="24" name="Shape 22"/>
          <p:cNvSpPr/>
          <p:nvPr/>
        </p:nvSpPr>
        <p:spPr>
          <a:xfrm>
            <a:off x="6323076" y="4437888"/>
            <a:ext cx="82296" cy="6766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79108" y="4437888"/>
            <a:ext cx="47411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$4.1M a year, 17 accounts affected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39028" y="4776216"/>
            <a:ext cx="310896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7512" y="5388864"/>
            <a:ext cx="10853928" cy="603504"/>
          </a:xfrm>
          <a:prstGeom prst="rect">
            <a:avLst/>
          </a:prstGeom>
          <a:solidFill>
            <a:srgbClr val="E3EF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5388864"/>
            <a:ext cx="82296" cy="6035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124712" y="5388864"/>
            <a:ext cx="10030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playbook exists — this is the second run of it.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SAVING LANDS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One-time, recurring, and optional.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67512" y="1965960"/>
            <a:ext cx="3404616" cy="36576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2376" y="1965960"/>
            <a:ext cx="3294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7512" y="2478024"/>
            <a:ext cx="3404616" cy="1082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7512" y="2478024"/>
            <a:ext cx="3404616" cy="8229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2779776"/>
            <a:ext cx="2947416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cost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102864"/>
            <a:ext cx="2947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$2.6M across nine months.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706368"/>
            <a:ext cx="3404616" cy="1264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7512" y="3706368"/>
            <a:ext cx="3404616" cy="8229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4008120"/>
            <a:ext cx="2947416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disposal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4331208"/>
            <a:ext cx="2947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Racking and yard equipment, $0.2M recovered.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92168" y="1965960"/>
            <a:ext cx="3404616" cy="36576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47032" y="1965960"/>
            <a:ext cx="3294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92168" y="2478024"/>
            <a:ext cx="3404616" cy="1082040"/>
          </a:xfrm>
          <a:prstGeom prst="rect">
            <a:avLst/>
          </a:prstGeom>
          <a:solidFill>
            <a:srgbClr val="E3EFEC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92168" y="2478024"/>
            <a:ext cx="3404616" cy="822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20768" y="2779776"/>
            <a:ext cx="2947416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saving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620768" y="3102864"/>
            <a:ext cx="2947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$4.1M a year from month ten.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92168" y="3706368"/>
            <a:ext cx="3404616" cy="1082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92168" y="3706368"/>
            <a:ext cx="3404616" cy="8229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0768" y="4008120"/>
            <a:ext cx="2947416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620768" y="4331208"/>
            <a:ext cx="2947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fewer sites to maintain.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16824" y="1965960"/>
            <a:ext cx="340461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71688" y="1965960"/>
            <a:ext cx="3294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16824" y="2478024"/>
            <a:ext cx="3404616" cy="1264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16824" y="2478024"/>
            <a:ext cx="3404616" cy="8229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45424" y="2779776"/>
            <a:ext cx="2947416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Sublet Brookline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345424" y="3102864"/>
            <a:ext cx="2947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rent covers 60% of the remaining lease.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16824" y="3889248"/>
            <a:ext cx="3404616" cy="1082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16824" y="3889248"/>
            <a:ext cx="3404616" cy="8229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345424" y="4191000"/>
            <a:ext cx="2947416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closure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345424" y="4514088"/>
            <a:ext cx="2947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Carlton if volume falls another 10%.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WORKSTREAMS STAND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of four foundations are in place.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450848"/>
            <a:ext cx="10853928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is done, amber is in flight, red needs a decision from the board.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7512" y="2023872"/>
            <a:ext cx="10853928" cy="691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2023872"/>
            <a:ext cx="109728" cy="69189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2023872"/>
            <a:ext cx="3566160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model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36592" y="2186940"/>
            <a:ext cx="1737360" cy="3657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0" name="Shape 8"/>
          <p:cNvSpPr/>
          <p:nvPr/>
        </p:nvSpPr>
        <p:spPr>
          <a:xfrm>
            <a:off x="4736592" y="2186940"/>
            <a:ext cx="64008" cy="36576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218694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702552" y="2023872"/>
            <a:ext cx="4590288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3 validated against FY25 actuals.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7512" y="2843784"/>
            <a:ext cx="10853928" cy="691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7512" y="2843784"/>
            <a:ext cx="109728" cy="69189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33272" y="2843784"/>
            <a:ext cx="3566160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assessment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36592" y="3006852"/>
            <a:ext cx="1737360" cy="3657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7" name="Shape 15"/>
          <p:cNvSpPr/>
          <p:nvPr/>
        </p:nvSpPr>
        <p:spPr>
          <a:xfrm>
            <a:off x="4736592" y="3006852"/>
            <a:ext cx="64008" cy="36576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46320" y="300685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702552" y="2843784"/>
            <a:ext cx="4590288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Easton and Fairmont confirmed as receiving sites.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" y="3663696"/>
            <a:ext cx="10853928" cy="691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" y="3663696"/>
            <a:ext cx="109728" cy="691896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33272" y="3663696"/>
            <a:ext cx="3566160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engagement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36592" y="3826764"/>
            <a:ext cx="1737360" cy="3657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4" name="Shape 22"/>
          <p:cNvSpPr/>
          <p:nvPr/>
        </p:nvSpPr>
        <p:spPr>
          <a:xfrm>
            <a:off x="4736592" y="3826764"/>
            <a:ext cx="64008" cy="3657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46320" y="3826764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decision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702552" y="3663696"/>
            <a:ext cx="4590288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cannot start before board approval; four-month clock.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7512" y="4483608"/>
            <a:ext cx="10853928" cy="691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67512" y="4483608"/>
            <a:ext cx="109728" cy="691896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33272" y="4483608"/>
            <a:ext cx="3566160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budget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36592" y="4646676"/>
            <a:ext cx="1737360" cy="3657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1" name="Shape 29"/>
          <p:cNvSpPr/>
          <p:nvPr/>
        </p:nvSpPr>
        <p:spPr>
          <a:xfrm>
            <a:off x="4736592" y="4646676"/>
            <a:ext cx="64008" cy="3657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846320" y="4646676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decision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702552" y="4483608"/>
            <a:ext cx="4590288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$2.6M requested; not in the FY27 plan.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7512" y="5449824"/>
            <a:ext cx="10853928" cy="603504"/>
          </a:xfrm>
          <a:prstGeom prst="rect">
            <a:avLst/>
          </a:prstGeom>
          <a:solidFill>
            <a:srgbClr val="E3EF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449824"/>
            <a:ext cx="82296" cy="6035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124712" y="5449824"/>
            <a:ext cx="10030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reds are decisions, not engineering — and they gate everything after them.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· STATUS SCREEN · FOR DEPOT MANAGERS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console shows a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depot's day on one screen.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060448"/>
            <a:ext cx="10853928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status view; callouts mark what to read first.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36115" y="2587752"/>
            <a:ext cx="4904842" cy="30998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0"/>
            </a:solidFill>
            <a:prstDash val="solid"/>
          </a:ln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pic>
        <p:nvPicPr>
          <p:cNvPr id="7" name="Image 0" descr="sources/depot_cons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1835" y="2633472"/>
            <a:ext cx="4813402" cy="300837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67512" y="5769864"/>
            <a:ext cx="7242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Depot Console, status view, fictional data.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0" y="2633472"/>
            <a:ext cx="347472" cy="347472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0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705088" y="2633472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card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705088" y="2962656"/>
            <a:ext cx="281635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number the morning stand-up runs on.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0" y="3617976"/>
            <a:ext cx="347472" cy="347472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0" y="3617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705088" y="36179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 allocation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705088" y="3947160"/>
            <a:ext cx="281635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bar is the bay running behind plan.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0" y="4602480"/>
            <a:ext cx="347472" cy="347472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0" y="4602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705088" y="460248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time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705088" y="4931664"/>
            <a:ext cx="281635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older than an hour, the feed has stalled.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RESULTS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Oakmont pilot hit three of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targets in its first eight weeks.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67512" y="2279904"/>
            <a:ext cx="2521458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2279904"/>
            <a:ext cx="2521458" cy="822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2503170" y="2545080"/>
            <a:ext cx="457200" cy="45720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8" name="Image 0" descr="/home/claude/skills/firstchair-consulting-deck/assets/icons/navy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3754" y="2645664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96112" y="2545080"/>
            <a:ext cx="15156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3057144"/>
            <a:ext cx="206425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97.8%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896112" y="3898392"/>
            <a:ext cx="2064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+1.2 pts</a:t>
            </a:r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better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4255008"/>
            <a:ext cx="2064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97.0%  ·  Weeks 1–8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45002" y="2279904"/>
            <a:ext cx="2521458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45002" y="2279904"/>
            <a:ext cx="2521458" cy="822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Shape 12"/>
          <p:cNvSpPr/>
          <p:nvPr/>
        </p:nvSpPr>
        <p:spPr>
          <a:xfrm>
            <a:off x="5280660" y="2545080"/>
            <a:ext cx="457200" cy="45720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16" name="Image 1" descr="/home/claude/skills/firstchair-consulting-deck/assets/icons/navy/doll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244" y="2645664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673602" y="2545080"/>
            <a:ext cx="15156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CONSIGNMENT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3673602" y="3057144"/>
            <a:ext cx="206425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$4.62</a:t>
            </a:r>
            <a:endParaRPr lang="en-US" sz="4400" dirty="0"/>
          </a:p>
        </p:txBody>
      </p:sp>
      <p:sp>
        <p:nvSpPr>
          <p:cNvPr id="19" name="Text 15"/>
          <p:cNvSpPr txBox="1"/>
          <p:nvPr/>
        </p:nvSpPr>
        <p:spPr>
          <a:xfrm>
            <a:off x="3673602" y="3898392"/>
            <a:ext cx="2064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-8%</a:t>
            </a:r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better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3673602" y="4255008"/>
            <a:ext cx="2064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$4.80  ·  Weeks 1–8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222492" y="2279904"/>
            <a:ext cx="2521458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22492" y="2279904"/>
            <a:ext cx="2521458" cy="822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Shape 19"/>
          <p:cNvSpPr/>
          <p:nvPr/>
        </p:nvSpPr>
        <p:spPr>
          <a:xfrm>
            <a:off x="8058150" y="2545080"/>
            <a:ext cx="457200" cy="45720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24" name="Image 2" descr="/home/claude/skills/firstchair-consulting-deck/assets/icons/navy/pack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734" y="2645664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451092" y="2545080"/>
            <a:ext cx="15156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TRAILER FILL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6451092" y="3057144"/>
            <a:ext cx="206425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81%</a:t>
            </a:r>
            <a:endParaRPr lang="en-US" sz="4400" dirty="0"/>
          </a:p>
        </p:txBody>
      </p:sp>
      <p:sp>
        <p:nvSpPr>
          <p:cNvPr id="27" name="Text 22"/>
          <p:cNvSpPr txBox="1"/>
          <p:nvPr/>
        </p:nvSpPr>
        <p:spPr>
          <a:xfrm>
            <a:off x="6451092" y="3898392"/>
            <a:ext cx="2064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+9 pts</a:t>
            </a:r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better</a:t>
            </a:r>
            <a:endParaRPr lang="en-US" sz="1250" dirty="0"/>
          </a:p>
        </p:txBody>
      </p:sp>
      <p:sp>
        <p:nvSpPr>
          <p:cNvPr id="28" name="Text 23"/>
          <p:cNvSpPr txBox="1"/>
          <p:nvPr/>
        </p:nvSpPr>
        <p:spPr>
          <a:xfrm>
            <a:off x="6451092" y="4255008"/>
            <a:ext cx="2064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78%  ·  Weeks 1–8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8999982" y="2279904"/>
            <a:ext cx="2521458" cy="2377440"/>
          </a:xfrm>
          <a:prstGeom prst="rect">
            <a:avLst/>
          </a:prstGeom>
          <a:solidFill>
            <a:srgbClr val="0E2A47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8999982" y="2279904"/>
            <a:ext cx="2521458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Shape 26"/>
          <p:cNvSpPr/>
          <p:nvPr/>
        </p:nvSpPr>
        <p:spPr>
          <a:xfrm>
            <a:off x="10835640" y="25450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2" name="Image 3" descr="/home/claude/skills/firstchair-consulting-deck/assets/icons/white/feedba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6224" y="2645664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9228582" y="2545080"/>
            <a:ext cx="15156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COMPLAINTS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9228582" y="3057144"/>
            <a:ext cx="206425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4400" dirty="0"/>
          </a:p>
        </p:txBody>
      </p:sp>
      <p:sp>
        <p:nvSpPr>
          <p:cNvPr id="35" name="Text 29"/>
          <p:cNvSpPr txBox="1"/>
          <p:nvPr/>
        </p:nvSpPr>
        <p:spPr>
          <a:xfrm>
            <a:off x="9228582" y="3898392"/>
            <a:ext cx="2064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+3</a:t>
            </a:r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worse</a:t>
            </a:r>
            <a:endParaRPr lang="en-US" sz="1250" dirty="0"/>
          </a:p>
        </p:txBody>
      </p:sp>
      <p:sp>
        <p:nvSpPr>
          <p:cNvPr id="36" name="Text 30"/>
          <p:cNvSpPr txBox="1"/>
          <p:nvPr/>
        </p:nvSpPr>
        <p:spPr>
          <a:xfrm>
            <a:off x="9228582" y="4255008"/>
            <a:ext cx="2064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≤ 10  ·  Weeks 1–8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667512" y="4931664"/>
            <a:ext cx="10853928" cy="603504"/>
          </a:xfrm>
          <a:prstGeom prst="rect">
            <a:avLst/>
          </a:prstGeom>
          <a:solidFill>
            <a:srgbClr val="E3EFEC"/>
          </a:solidFill>
          <a:ln/>
        </p:spPr>
      </p:sp>
      <p:sp>
        <p:nvSpPr>
          <p:cNvPr id="38" name="Shape 32"/>
          <p:cNvSpPr/>
          <p:nvPr/>
        </p:nvSpPr>
        <p:spPr>
          <a:xfrm>
            <a:off x="667512" y="4931664"/>
            <a:ext cx="82296" cy="6035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1124712" y="4931664"/>
            <a:ext cx="10030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are the one miss: all 14 trace to the first fortnight's re-routed postcodes.</a:t>
            </a:r>
            <a:endParaRPr lang="en-US" sz="1500" dirty="0"/>
          </a:p>
        </p:txBody>
      </p:sp>
      <p:sp>
        <p:nvSpPr>
          <p:cNvPr id="40" name="Text 34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Oakmont pilot tracker, weeks 1–8 (fictional)</a:t>
            </a:r>
            <a:endParaRPr lang="en-US" sz="1000" dirty="0"/>
          </a:p>
        </p:txBody>
      </p:sp>
      <p:sp>
        <p:nvSpPr>
          <p:cNvPr id="41" name="Text 35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BY SITE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Easton is ready to receive; Fairmont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needs its hiring stage closed first.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67512" y="2279904"/>
            <a:ext cx="10853928" cy="56032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355848" y="2279904"/>
            <a:ext cx="1164946" cy="56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check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593946" y="2279904"/>
            <a:ext cx="1164946" cy="56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terms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832043" y="2279904"/>
            <a:ext cx="1164946" cy="56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070141" y="2279904"/>
            <a:ext cx="1164946" cy="56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cut-over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308238" y="2279904"/>
            <a:ext cx="1164946" cy="56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601200" y="2279904"/>
            <a:ext cx="1828800" cy="56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7512" y="2840228"/>
            <a:ext cx="10853928" cy="5603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" y="2840228"/>
            <a:ext cx="2423160" cy="56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Easton (receives Brookline, Oakmont)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82873" y="296494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82873" y="2964942"/>
            <a:ext cx="310896" cy="310896"/>
          </a:xfrm>
          <a:prstGeom prst="ellipse">
            <a:avLst/>
          </a:prstGeom>
          <a:solidFill>
            <a:srgbClr val="0D9488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0970" y="296494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0970" y="2964942"/>
            <a:ext cx="310896" cy="310896"/>
          </a:xfrm>
          <a:prstGeom prst="ellipse">
            <a:avLst/>
          </a:prstGeom>
          <a:solidFill>
            <a:srgbClr val="0D9488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9068" y="296494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59068" y="2964942"/>
            <a:ext cx="310896" cy="310896"/>
          </a:xfrm>
          <a:prstGeom prst="ellipse">
            <a:avLst/>
          </a:prstGeom>
          <a:solidFill>
            <a:srgbClr val="0D9488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7166" y="296494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7166" y="2964942"/>
            <a:ext cx="310896" cy="310896"/>
          </a:xfrm>
          <a:prstGeom prst="ellipse">
            <a:avLst/>
          </a:prstGeom>
          <a:solidFill>
            <a:srgbClr val="0D9488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35263" y="296494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35263" y="2964942"/>
            <a:ext cx="310896" cy="310896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D948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01200" y="2840228"/>
            <a:ext cx="1828800" cy="56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 week 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" y="3400552"/>
            <a:ext cx="10853928" cy="560324"/>
          </a:xfrm>
          <a:prstGeom prst="rect">
            <a:avLst/>
          </a:prstGeom>
          <a:solidFill>
            <a:srgbClr val="ECEFF1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" y="3400552"/>
            <a:ext cx="82296" cy="56032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50392" y="3400552"/>
            <a:ext cx="2423160" cy="56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Fairmont (receives Ridgeway)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782873" y="3525266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82873" y="3525266"/>
            <a:ext cx="310896" cy="310896"/>
          </a:xfrm>
          <a:prstGeom prst="ellipse">
            <a:avLst/>
          </a:prstGeom>
          <a:solidFill>
            <a:srgbClr val="0D9488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0970" y="3525266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0970" y="3525266"/>
            <a:ext cx="310896" cy="310896"/>
          </a:xfrm>
          <a:prstGeom prst="ellipse">
            <a:avLst/>
          </a:prstGeom>
          <a:solidFill>
            <a:srgbClr val="0D9488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59068" y="3525266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59068" y="3525266"/>
            <a:ext cx="310896" cy="310896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D9488"/>
          </a:solidFill>
          <a:ln/>
        </p:spPr>
      </p:sp>
      <p:sp>
        <p:nvSpPr>
          <p:cNvPr id="34" name="Shape 32"/>
          <p:cNvSpPr/>
          <p:nvPr/>
        </p:nvSpPr>
        <p:spPr>
          <a:xfrm>
            <a:off x="7497166" y="3525266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35263" y="3525266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601200" y="3400552"/>
            <a:ext cx="1828800" cy="56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18 hires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7512" y="3960876"/>
            <a:ext cx="10853928" cy="5603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0392" y="3960876"/>
            <a:ext cx="2423160" cy="56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Ridgeway exit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782873" y="408559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82873" y="4085590"/>
            <a:ext cx="310896" cy="310896"/>
          </a:xfrm>
          <a:prstGeom prst="ellipse">
            <a:avLst/>
          </a:prstGeom>
          <a:solidFill>
            <a:srgbClr val="0D9488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0970" y="408559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0970" y="4085590"/>
            <a:ext cx="310896" cy="310896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D9488"/>
          </a:solidFill>
          <a:ln/>
        </p:spPr>
      </p:sp>
      <p:sp>
        <p:nvSpPr>
          <p:cNvPr id="43" name="Shape 41"/>
          <p:cNvSpPr/>
          <p:nvPr/>
        </p:nvSpPr>
        <p:spPr>
          <a:xfrm>
            <a:off x="6259068" y="408559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97166" y="408559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35263" y="408559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01200" y="3960876"/>
            <a:ext cx="1828800" cy="56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clause 2027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67512" y="4521200"/>
            <a:ext cx="10853928" cy="560324"/>
          </a:xfrm>
          <a:prstGeom prst="rect">
            <a:avLst/>
          </a:prstGeom>
          <a:solidFill>
            <a:srgbClr val="ECEFF1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50392" y="4521200"/>
            <a:ext cx="2423160" cy="56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Brookline exit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782873" y="4645914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82873" y="4645914"/>
            <a:ext cx="310896" cy="310896"/>
          </a:xfrm>
          <a:prstGeom prst="ellipse">
            <a:avLst/>
          </a:prstGeom>
          <a:solidFill>
            <a:srgbClr val="0D9488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20970" y="4645914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20970" y="4645914"/>
            <a:ext cx="310896" cy="310896"/>
          </a:xfrm>
          <a:prstGeom prst="ellipse">
            <a:avLst/>
          </a:prstGeom>
          <a:solidFill>
            <a:srgbClr val="0D9488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59068" y="4645914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97166" y="4645914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35263" y="4645914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601200" y="4521200"/>
            <a:ext cx="1828800" cy="56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Sublet in market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7512" y="5081524"/>
            <a:ext cx="10853928" cy="5603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50392" y="5081524"/>
            <a:ext cx="2423160" cy="56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Oakmont exit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782873" y="5206238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782873" y="5206238"/>
            <a:ext cx="310896" cy="310896"/>
          </a:xfrm>
          <a:prstGeom prst="ellipse">
            <a:avLst/>
          </a:prstGeom>
          <a:solidFill>
            <a:srgbClr val="0D9488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020970" y="5206238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020970" y="5206238"/>
            <a:ext cx="310896" cy="310896"/>
          </a:xfrm>
          <a:prstGeom prst="ellipse">
            <a:avLst/>
          </a:prstGeom>
          <a:solidFill>
            <a:srgbClr val="0D9488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59068" y="5206238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59068" y="5206238"/>
            <a:ext cx="310896" cy="310896"/>
          </a:xfrm>
          <a:prstGeom prst="ellipse">
            <a:avLst/>
          </a:prstGeom>
          <a:solidFill>
            <a:srgbClr val="0D9488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497166" y="5206238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97166" y="5206238"/>
            <a:ext cx="310896" cy="310896"/>
          </a:xfrm>
          <a:prstGeom prst="ellipse">
            <a:avLst/>
          </a:prstGeom>
          <a:solidFill>
            <a:srgbClr val="0D9488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735263" y="5206238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735263" y="5206238"/>
            <a:ext cx="310896" cy="310896"/>
          </a:xfrm>
          <a:prstGeom prst="ellipse">
            <a:avLst/>
          </a:prstGeom>
          <a:solidFill>
            <a:srgbClr val="0D9488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601200" y="5081524"/>
            <a:ext cx="1828800" cy="56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67512" y="580644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67512" y="5806440"/>
            <a:ext cx="201168" cy="201168"/>
          </a:xfrm>
          <a:prstGeom prst="ellipse">
            <a:avLst/>
          </a:prstGeom>
          <a:solidFill>
            <a:srgbClr val="0D9488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60120" y="57698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2404872" y="580644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404872" y="5806440"/>
            <a:ext cx="201168" cy="201168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D9488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2697480" y="57698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way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142232" y="580644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4434840" y="57698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Transition PMO tracker (fictional)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80" name="Text 78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RUN IT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9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safety rules stay exactly as they</a:t>
            </a:r>
            <a:endParaRPr lang="en-US" sz="3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9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are; only the timing of moves changes.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667512" y="2249424"/>
            <a:ext cx="5221224" cy="359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2249424"/>
            <a:ext cx="5221224" cy="8229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33272" y="2523744"/>
            <a:ext cx="4489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852928"/>
            <a:ext cx="4489704" cy="34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is unchanged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124712" y="3440176"/>
            <a:ext cx="4398264" cy="1852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change goes through the network change board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notice at least 30 days ahead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managers sign off their own cut-over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Post-move service check at day 7 and day 30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5338064"/>
            <a:ext cx="4489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existing responsibilities stay with the site.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0216" y="2249424"/>
            <a:ext cx="5221224" cy="359156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2" name="Shape 10"/>
          <p:cNvSpPr/>
          <p:nvPr/>
        </p:nvSpPr>
        <p:spPr>
          <a:xfrm>
            <a:off x="6665976" y="25603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0" descr="/home/claude/skills/firstchair-consulting-deck/assets/icons/white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660904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260336" y="2578608"/>
            <a:ext cx="3895344" cy="625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Moves follow the depot clock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665976" y="3478784"/>
            <a:ext cx="4489704" cy="751332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16" name="Shape 13"/>
          <p:cNvSpPr/>
          <p:nvPr/>
        </p:nvSpPr>
        <p:spPr>
          <a:xfrm>
            <a:off x="6665976" y="3478784"/>
            <a:ext cx="64008" cy="7513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922008" y="3606800"/>
            <a:ext cx="4123944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sites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922008" y="3856736"/>
            <a:ext cx="4123944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22:00 local, once the last trunk has left.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665976" y="4376420"/>
            <a:ext cx="4489704" cy="751332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20" name="Shape 17"/>
          <p:cNvSpPr/>
          <p:nvPr/>
        </p:nvSpPr>
        <p:spPr>
          <a:xfrm>
            <a:off x="6665976" y="4376420"/>
            <a:ext cx="64008" cy="7513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922008" y="4504436"/>
            <a:ext cx="4123944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sites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922008" y="4754372"/>
            <a:ext cx="4123944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day shift, when volume is lowest.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6665976" y="5338064"/>
            <a:ext cx="4489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windows validated in the pilot; exceptions by request.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DECIDES WHAT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move needs the network board's</a:t>
            </a:r>
            <a:endParaRPr lang="en-US" sz="3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approval; sites execute their own.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67512" y="2218944"/>
            <a:ext cx="10853928" cy="6035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0392" y="2218944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38728" y="2218944"/>
            <a:ext cx="12687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manager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880610" y="2218944"/>
            <a:ext cx="12687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director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22492" y="2218944"/>
            <a:ext cx="12687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board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564374" y="2218944"/>
            <a:ext cx="12687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997696" y="2218944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" y="2822448"/>
            <a:ext cx="10853928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" y="2822448"/>
            <a:ext cx="82296" cy="6035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0392" y="2822448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 depot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593592" y="2959608"/>
            <a:ext cx="115900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5A6B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93592" y="2959608"/>
            <a:ext cx="11590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5474" y="2959608"/>
            <a:ext cx="1159002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35474" y="2959608"/>
            <a:ext cx="11590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77356" y="2959608"/>
            <a:ext cx="1159002" cy="32918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77356" y="2959608"/>
            <a:ext cx="11590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19238" y="2959608"/>
            <a:ext cx="115900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5A6B7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19238" y="2959608"/>
            <a:ext cx="11590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Consulted</a:t>
            </a:r>
            <a:endParaRPr lang="en-US" sz="1100" dirty="0"/>
          </a:p>
        </p:txBody>
      </p:sp>
      <p:pic>
        <p:nvPicPr>
          <p:cNvPr id="23" name="Image 0" descr="/home/claude/skills/firstchair-consulting-deck/assets/icons/navy/sta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08" y="3005328"/>
            <a:ext cx="237744" cy="237744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9308592" y="2822448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minute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67512" y="3425952"/>
            <a:ext cx="10853928" cy="603504"/>
          </a:xfrm>
          <a:prstGeom prst="rect">
            <a:avLst/>
          </a:prstGeom>
          <a:solidFill>
            <a:srgbClr val="ECEFF1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50392" y="342595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Re-route a postcode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3593592" y="3563112"/>
            <a:ext cx="1159002" cy="329184"/>
          </a:xfrm>
          <a:prstGeom prst="rect">
            <a:avLst/>
          </a:prstGeom>
          <a:solidFill>
            <a:srgbClr val="E3EFEC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593592" y="3563112"/>
            <a:ext cx="11590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935474" y="3563112"/>
            <a:ext cx="1159002" cy="32918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935474" y="3563112"/>
            <a:ext cx="11590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277356" y="3563112"/>
            <a:ext cx="11590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619238" y="3563112"/>
            <a:ext cx="11590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</a:t>
            </a:r>
            <a:endParaRPr lang="en-US" sz="1100" dirty="0"/>
          </a:p>
        </p:txBody>
      </p:sp>
      <p:pic>
        <p:nvPicPr>
          <p:cNvPr id="33" name="Image 1" descr="/home/claude/skills/firstchair-consulting-deck/assets/icons/navy/ti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08" y="3608832"/>
            <a:ext cx="237744" cy="237744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9308592" y="3425952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ticket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667512" y="4029456"/>
            <a:ext cx="10853928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850392" y="4029456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staff between sites</a:t>
            </a:r>
            <a:endParaRPr lang="en-US" sz="1250" dirty="0"/>
          </a:p>
        </p:txBody>
      </p:sp>
      <p:sp>
        <p:nvSpPr>
          <p:cNvPr id="37" name="Shape 33"/>
          <p:cNvSpPr/>
          <p:nvPr/>
        </p:nvSpPr>
        <p:spPr>
          <a:xfrm>
            <a:off x="3593592" y="4166616"/>
            <a:ext cx="115900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5A6B7B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3593592" y="4166616"/>
            <a:ext cx="11590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Consulted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4935474" y="4166616"/>
            <a:ext cx="1159002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4935474" y="4166616"/>
            <a:ext cx="11590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</a:t>
            </a:r>
            <a:endParaRPr lang="en-US" sz="1100" dirty="0"/>
          </a:p>
        </p:txBody>
      </p:sp>
      <p:sp>
        <p:nvSpPr>
          <p:cNvPr id="41" name="Text 37"/>
          <p:cNvSpPr txBox="1"/>
          <p:nvPr/>
        </p:nvSpPr>
        <p:spPr>
          <a:xfrm>
            <a:off x="6277356" y="4166616"/>
            <a:ext cx="11590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7619238" y="4166616"/>
            <a:ext cx="1159002" cy="32918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7619238" y="4166616"/>
            <a:ext cx="11590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</a:t>
            </a:r>
            <a:endParaRPr lang="en-US" sz="1100" dirty="0"/>
          </a:p>
        </p:txBody>
      </p:sp>
      <p:pic>
        <p:nvPicPr>
          <p:cNvPr id="44" name="Image 2" descr="/home/claude/skills/firstchair-consulting-deck/assets/icons/navy/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08" y="4212336"/>
            <a:ext cx="237744" cy="237744"/>
          </a:xfrm>
          <a:prstGeom prst="rect">
            <a:avLst/>
          </a:prstGeom>
        </p:spPr>
      </p:pic>
      <p:sp>
        <p:nvSpPr>
          <p:cNvPr id="45" name="Text 40"/>
          <p:cNvSpPr txBox="1"/>
          <p:nvPr/>
        </p:nvSpPr>
        <p:spPr>
          <a:xfrm>
            <a:off x="9308592" y="4029456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consultation</a:t>
            </a:r>
            <a:endParaRPr lang="en-US" sz="1150" dirty="0"/>
          </a:p>
        </p:txBody>
      </p:sp>
      <p:sp>
        <p:nvSpPr>
          <p:cNvPr id="46" name="Shape 41"/>
          <p:cNvSpPr/>
          <p:nvPr/>
        </p:nvSpPr>
        <p:spPr>
          <a:xfrm>
            <a:off x="667512" y="4632960"/>
            <a:ext cx="10853928" cy="603504"/>
          </a:xfrm>
          <a:prstGeom prst="rect">
            <a:avLst/>
          </a:prstGeom>
          <a:solidFill>
            <a:srgbClr val="ECEFF1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850392" y="463296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peak-week dry run</a:t>
            </a:r>
            <a:endParaRPr lang="en-US" sz="1250" dirty="0"/>
          </a:p>
        </p:txBody>
      </p:sp>
      <p:sp>
        <p:nvSpPr>
          <p:cNvPr id="48" name="Shape 43"/>
          <p:cNvSpPr/>
          <p:nvPr/>
        </p:nvSpPr>
        <p:spPr>
          <a:xfrm>
            <a:off x="3593592" y="4770120"/>
            <a:ext cx="1159002" cy="329184"/>
          </a:xfrm>
          <a:prstGeom prst="rect">
            <a:avLst/>
          </a:prstGeom>
          <a:solidFill>
            <a:srgbClr val="E3EFEC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3593592" y="4770120"/>
            <a:ext cx="11590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</a:t>
            </a:r>
            <a:endParaRPr lang="en-US" sz="1100" dirty="0"/>
          </a:p>
        </p:txBody>
      </p:sp>
      <p:sp>
        <p:nvSpPr>
          <p:cNvPr id="50" name="Shape 45"/>
          <p:cNvSpPr/>
          <p:nvPr/>
        </p:nvSpPr>
        <p:spPr>
          <a:xfrm>
            <a:off x="4935474" y="4770120"/>
            <a:ext cx="1159002" cy="32918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4935474" y="4770120"/>
            <a:ext cx="11590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</a:t>
            </a:r>
            <a:endParaRPr lang="en-US" sz="1100" dirty="0"/>
          </a:p>
        </p:txBody>
      </p:sp>
      <p:sp>
        <p:nvSpPr>
          <p:cNvPr id="52" name="Text 47"/>
          <p:cNvSpPr txBox="1"/>
          <p:nvPr/>
        </p:nvSpPr>
        <p:spPr>
          <a:xfrm>
            <a:off x="6277356" y="4770120"/>
            <a:ext cx="11590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</a:t>
            </a:r>
            <a:endParaRPr lang="en-US" sz="1100" dirty="0"/>
          </a:p>
        </p:txBody>
      </p:sp>
      <p:pic>
        <p:nvPicPr>
          <p:cNvPr id="53" name="Image 3" descr="/home/claude/skills/firstchair-consulting-deck/assets/icons/navy/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08" y="4815840"/>
            <a:ext cx="237744" cy="237744"/>
          </a:xfrm>
          <a:prstGeom prst="rect">
            <a:avLst/>
          </a:prstGeom>
        </p:spPr>
      </p:pic>
      <p:sp>
        <p:nvSpPr>
          <p:cNvPr id="54" name="Text 48"/>
          <p:cNvSpPr txBox="1"/>
          <p:nvPr/>
        </p:nvSpPr>
        <p:spPr>
          <a:xfrm>
            <a:off x="9308592" y="4632960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calendar</a:t>
            </a:r>
            <a:endParaRPr lang="en-US" sz="1150" dirty="0"/>
          </a:p>
        </p:txBody>
      </p:sp>
      <p:sp>
        <p:nvSpPr>
          <p:cNvPr id="55" name="Text 49"/>
          <p:cNvSpPr txBox="1"/>
          <p:nvPr/>
        </p:nvSpPr>
        <p:spPr>
          <a:xfrm>
            <a:off x="667512" y="5346192"/>
            <a:ext cx="1224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 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</a:t>
            </a:r>
            <a:endParaRPr lang="en-US" sz="1100" dirty="0"/>
          </a:p>
        </p:txBody>
      </p:sp>
      <p:sp>
        <p:nvSpPr>
          <p:cNvPr id="56" name="Text 50"/>
          <p:cNvSpPr txBox="1"/>
          <p:nvPr/>
        </p:nvSpPr>
        <p:spPr>
          <a:xfrm>
            <a:off x="2028806" y="5346192"/>
            <a:ext cx="12467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</a:t>
            </a:r>
            <a:endParaRPr lang="en-US" sz="1100" dirty="0"/>
          </a:p>
        </p:txBody>
      </p:sp>
      <p:sp>
        <p:nvSpPr>
          <p:cNvPr id="57" name="Text 51"/>
          <p:cNvSpPr txBox="1"/>
          <p:nvPr/>
        </p:nvSpPr>
        <p:spPr>
          <a:xfrm>
            <a:off x="3412689" y="5346192"/>
            <a:ext cx="12017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</a:t>
            </a:r>
            <a:endParaRPr lang="en-US" sz="1100" dirty="0"/>
          </a:p>
        </p:txBody>
      </p:sp>
      <p:sp>
        <p:nvSpPr>
          <p:cNvPr id="58" name="Text 52"/>
          <p:cNvSpPr txBox="1"/>
          <p:nvPr/>
        </p:nvSpPr>
        <p:spPr>
          <a:xfrm>
            <a:off x="4751562" y="5346192"/>
            <a:ext cx="1281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Consulted</a:t>
            </a:r>
            <a:endParaRPr lang="en-US" sz="1100" dirty="0"/>
          </a:p>
        </p:txBody>
      </p:sp>
      <p:sp>
        <p:nvSpPr>
          <p:cNvPr id="59" name="Text 53"/>
          <p:cNvSpPr txBox="1"/>
          <p:nvPr/>
        </p:nvSpPr>
        <p:spPr>
          <a:xfrm>
            <a:off x="6169805" y="5346192"/>
            <a:ext cx="1234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 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</a:t>
            </a:r>
            <a:endParaRPr lang="en-US" sz="1100" dirty="0"/>
          </a:p>
        </p:txBody>
      </p:sp>
      <p:sp>
        <p:nvSpPr>
          <p:cNvPr id="60" name="Text 54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61" name="Text 55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3" name="Shape 1"/>
          <p:cNvSpPr/>
          <p:nvPr/>
        </p:nvSpPr>
        <p:spPr>
          <a:xfrm>
            <a:off x="3108960" y="0"/>
            <a:ext cx="6400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214884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20116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2395728"/>
            <a:ext cx="7680960" cy="1377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decision and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takes.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395630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approval, one budget, one risk to manage.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840480" y="5669280"/>
            <a:ext cx="1463040" cy="73152"/>
          </a:xfrm>
          <a:prstGeom prst="rect">
            <a:avLst/>
          </a:prstGeom>
          <a:solidFill>
            <a:srgbClr val="9FB3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40480" y="579729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49824" y="5669280"/>
            <a:ext cx="1463040" cy="73152"/>
          </a:xfrm>
          <a:prstGeom prst="rect">
            <a:avLst/>
          </a:prstGeom>
          <a:solidFill>
            <a:srgbClr val="9FB3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49824" y="579729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059168" y="5669280"/>
            <a:ext cx="14630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59168" y="579729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6455664"/>
            <a:ext cx="7068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consolidating three depots;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saves $4.1M a year from year two.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279904"/>
            <a:ext cx="607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262737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63952"/>
            <a:ext cx="5511272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sites are structurally underused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962656"/>
            <a:ext cx="5511272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34–39% utilisation for six quarters; the network runs at 58%.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332536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361944"/>
            <a:ext cx="5511272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volume fits next door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60648"/>
            <a:ext cx="5511272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Easton and Fairmont absorb it with 18% headroom to spare.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402336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059936"/>
            <a:ext cx="5511272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barely notice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358640"/>
            <a:ext cx="551127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of 2,140 customers lose next-day service; all are offered a two-day rate.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57192" y="2279904"/>
            <a:ext cx="4364248" cy="275234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6" name="Shape 14"/>
          <p:cNvSpPr/>
          <p:nvPr/>
        </p:nvSpPr>
        <p:spPr>
          <a:xfrm>
            <a:off x="7157192" y="2279904"/>
            <a:ext cx="4364248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77232" y="2572512"/>
            <a:ext cx="372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477232" y="2938272"/>
            <a:ext cx="3724168" cy="443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the plan and release the $2.6M transition budget.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77232" y="3610864"/>
            <a:ext cx="3724168" cy="0"/>
          </a:xfrm>
          <a:prstGeom prst="line">
            <a:avLst/>
          </a:prstGeom>
          <a:noFill/>
          <a:ln w="6350">
            <a:solidFill>
              <a:srgbClr val="9FB3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77232" y="36840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757392" y="3684016"/>
            <a:ext cx="2444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77232" y="4049776"/>
            <a:ext cx="3724168" cy="0"/>
          </a:xfrm>
          <a:prstGeom prst="line">
            <a:avLst/>
          </a:prstGeom>
          <a:noFill/>
          <a:ln w="6350">
            <a:solidFill>
              <a:srgbClr val="9FB3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77232" y="4122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WHEN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757392" y="4122928"/>
            <a:ext cx="2444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Oct 15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77232" y="4488688"/>
            <a:ext cx="3724168" cy="0"/>
          </a:xfrm>
          <a:prstGeom prst="line">
            <a:avLst/>
          </a:prstGeom>
          <a:noFill/>
          <a:ln w="6350">
            <a:solidFill>
              <a:srgbClr val="9FB3C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77232" y="45618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757392" y="4561840"/>
            <a:ext cx="2444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$2.6M one-time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67512" y="5288280"/>
            <a:ext cx="10853928" cy="765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7512" y="5288280"/>
            <a:ext cx="82296" cy="765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0" name="Shape 28"/>
          <p:cNvSpPr/>
          <p:nvPr/>
        </p:nvSpPr>
        <p:spPr>
          <a:xfrm>
            <a:off x="923544" y="5433060"/>
            <a:ext cx="475488" cy="475488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1" name="Image 0" descr="/home/claude/skills/firstchair-consulting-deck/assets/icons/white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151" y="5537667"/>
            <a:ext cx="266273" cy="266273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1581912" y="5398008"/>
            <a:ext cx="9756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  </a:t>
            </a:r>
            <a:pPr indent="0" marL="0">
              <a:buNone/>
            </a:pPr>
            <a:r>
              <a:rPr lang="en-US" sz="11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HR director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1581912" y="5672328"/>
            <a:ext cx="9756648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consultation at Ridgeway could add four months.  Mitigation: Exit Oakmont and Brookline first.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Halvard depot P&amp;L FY25; route model v3 (fictional)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Consolidation saves $4.1M a year,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three-quarters of it from two lines.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67512" y="2279904"/>
            <a:ext cx="4572000" cy="26456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2279904"/>
            <a:ext cx="4572000" cy="822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87552" y="2426208"/>
            <a:ext cx="3931920" cy="118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5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$4.1M</a:t>
            </a:r>
            <a:endParaRPr lang="en-US" sz="7650" dirty="0"/>
          </a:p>
        </p:txBody>
      </p:sp>
      <p:sp>
        <p:nvSpPr>
          <p:cNvPr id="8" name="Shape 6"/>
          <p:cNvSpPr/>
          <p:nvPr/>
        </p:nvSpPr>
        <p:spPr>
          <a:xfrm>
            <a:off x="1014984" y="3628644"/>
            <a:ext cx="1188720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87552" y="3811524"/>
            <a:ext cx="3931920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 at run-rate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4125468"/>
            <a:ext cx="393192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month ten, net of $0.3M extra fuel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87552" y="4433316"/>
            <a:ext cx="2084398" cy="347472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42416" y="4433316"/>
            <a:ext cx="1974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$2.6M one-time cost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96712" y="2279904"/>
            <a:ext cx="5824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96712" y="2727960"/>
            <a:ext cx="548640" cy="54864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15" name="Image 0" descr="/home/claude/skills/firstchair-consulting-deck/assets/icons/navy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7413" y="2848661"/>
            <a:ext cx="307238" cy="30723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446520" y="2691384"/>
            <a:ext cx="507492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Leases: $1.9M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990088"/>
            <a:ext cx="5074920" cy="318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leases end or break by 2029.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696712" y="3344672"/>
            <a:ext cx="5824728" cy="0"/>
          </a:xfrm>
          <a:prstGeom prst="line">
            <a:avLst/>
          </a:prstGeom>
          <a:noFill/>
          <a:ln w="9525">
            <a:solidFill>
              <a:srgbClr val="D5DBE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96712" y="3472688"/>
            <a:ext cx="548640" cy="54864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20" name="Image 1" descr="/home/claude/skills/firstchair-consulting-deck/assets/icons/navy/t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413" y="3593389"/>
            <a:ext cx="307238" cy="30723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446520" y="3436112"/>
            <a:ext cx="507492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Labour: $1.3M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6446520" y="3734816"/>
            <a:ext cx="5074920" cy="318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larger crews replace three small ones.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696712" y="4089400"/>
            <a:ext cx="5824728" cy="0"/>
          </a:xfrm>
          <a:prstGeom prst="line">
            <a:avLst/>
          </a:prstGeom>
          <a:noFill/>
          <a:ln w="9525">
            <a:solidFill>
              <a:srgbClr val="D5DBE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696712" y="4217416"/>
            <a:ext cx="548640" cy="54864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25" name="Image 2" descr="/home/claude/skills/firstchair-consulting-deck/assets/icons/navy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413" y="4338117"/>
            <a:ext cx="307238" cy="307238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446520" y="4180840"/>
            <a:ext cx="507492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Overhead: $1.2M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6446520" y="4479544"/>
            <a:ext cx="5074920" cy="318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management, security and utilities.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67512" y="5181600"/>
            <a:ext cx="10853928" cy="87172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29" name="Shape 24"/>
          <p:cNvSpPr/>
          <p:nvPr/>
        </p:nvSpPr>
        <p:spPr>
          <a:xfrm>
            <a:off x="667512" y="5181600"/>
            <a:ext cx="10853928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1124712" y="5364480"/>
            <a:ext cx="9939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1124712" y="5620512"/>
            <a:ext cx="993952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budget pays back inside eight months of run-rate saving.</a:t>
            </a:r>
            <a:endParaRPr lang="en-US" sz="2000" dirty="0"/>
          </a:p>
        </p:txBody>
      </p:sp>
      <p:sp>
        <p:nvSpPr>
          <p:cNvPr id="32" name="Text 27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Halvard depot P&amp;L FY25 (fictional)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7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transition is on plan except for</a:t>
            </a:r>
            <a:endParaRPr lang="en-US" sz="37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7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Fairmont hiring, which gates Ridgeway.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7512" y="2188464"/>
            <a:ext cx="2743200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347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2590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risk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776472" y="2188464"/>
            <a:ext cx="7744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three site moves are on plan; Fairmont needs seven more hires before Ridgeway can move.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67512" y="3285744"/>
            <a:ext cx="10853928" cy="343662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3285744"/>
            <a:ext cx="91440" cy="34366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285744"/>
            <a:ext cx="3291840" cy="343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Oakmont exit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25112" y="3292983"/>
            <a:ext cx="1600200" cy="32918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3" name="Shape 11"/>
          <p:cNvSpPr/>
          <p:nvPr/>
        </p:nvSpPr>
        <p:spPr>
          <a:xfrm>
            <a:off x="4325112" y="3292983"/>
            <a:ext cx="64008" cy="32918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34840" y="3292983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153912" y="3285744"/>
            <a:ext cx="5184648" cy="343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week 8; volume at Easton.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3693414"/>
            <a:ext cx="10853928" cy="343662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" y="3693414"/>
            <a:ext cx="91440" cy="34366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693414"/>
            <a:ext cx="3291840" cy="343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Brookline exit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25112" y="3700653"/>
            <a:ext cx="1600200" cy="32918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0" name="Shape 18"/>
          <p:cNvSpPr/>
          <p:nvPr/>
        </p:nvSpPr>
        <p:spPr>
          <a:xfrm>
            <a:off x="4325112" y="3700653"/>
            <a:ext cx="64008" cy="32918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34840" y="3700653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153912" y="3693414"/>
            <a:ext cx="5184648" cy="343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Sublet in market; move in month five.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7512" y="4101084"/>
            <a:ext cx="10853928" cy="343662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" y="4101084"/>
            <a:ext cx="91440" cy="34366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41832" y="4101084"/>
            <a:ext cx="3291840" cy="343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Fairmont hiring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25112" y="4108323"/>
            <a:ext cx="1600200" cy="329184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7" name="Shape 25"/>
          <p:cNvSpPr/>
          <p:nvPr/>
        </p:nvSpPr>
        <p:spPr>
          <a:xfrm>
            <a:off x="4325112" y="4108323"/>
            <a:ext cx="64008" cy="32918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434840" y="4108323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track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153912" y="4101084"/>
            <a:ext cx="5184648" cy="343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18 hired; local market tight.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67512" y="4508754"/>
            <a:ext cx="10853928" cy="343662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" y="4508754"/>
            <a:ext cx="91440" cy="34366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4508754"/>
            <a:ext cx="3291840" cy="343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cut-over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325112" y="4515993"/>
            <a:ext cx="1600200" cy="329184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4" name="Shape 32"/>
          <p:cNvSpPr/>
          <p:nvPr/>
        </p:nvSpPr>
        <p:spPr>
          <a:xfrm>
            <a:off x="4325112" y="4515993"/>
            <a:ext cx="64008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434840" y="4515993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153912" y="4508754"/>
            <a:ext cx="5184648" cy="343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Easton done; Fairmont waits on hiring.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67512" y="5090160"/>
            <a:ext cx="5289804" cy="96316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8" name="Shape 36"/>
          <p:cNvSpPr/>
          <p:nvPr/>
        </p:nvSpPr>
        <p:spPr>
          <a:xfrm>
            <a:off x="667512" y="5090160"/>
            <a:ext cx="82296" cy="963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Shape 37"/>
          <p:cNvSpPr/>
          <p:nvPr/>
        </p:nvSpPr>
        <p:spPr>
          <a:xfrm>
            <a:off x="923544" y="533400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0" name="Image 0" descr="/home/claude/skills/firstchair-consulting-deck/assets/icons/white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151" y="5438607"/>
            <a:ext cx="266273" cy="266273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1581912" y="5199888"/>
            <a:ext cx="41925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  </a:t>
            </a:r>
            <a:pPr indent="0" marL="0">
              <a:buNone/>
            </a:pPr>
            <a:r>
              <a:rPr lang="en-US" sz="1100" b="1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director  ·  Next Friday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1581912" y="5474208"/>
            <a:ext cx="4192524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10% retention premium for Fairmont roles.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6231636" y="5090160"/>
            <a:ext cx="5289804" cy="9631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231636" y="5090160"/>
            <a:ext cx="82296" cy="96316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5" name="Shape 42"/>
          <p:cNvSpPr/>
          <p:nvPr/>
        </p:nvSpPr>
        <p:spPr>
          <a:xfrm>
            <a:off x="6487668" y="5334000"/>
            <a:ext cx="475488" cy="475488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46" name="Image 1" descr="/home/claude/skills/firstchair-consulting-deck/assets/icons/white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275" y="5438607"/>
            <a:ext cx="266273" cy="266273"/>
          </a:xfrm>
          <a:prstGeom prst="rect">
            <a:avLst/>
          </a:prstGeom>
        </p:spPr>
      </p:pic>
      <p:sp>
        <p:nvSpPr>
          <p:cNvPr id="47" name="Text 43"/>
          <p:cNvSpPr txBox="1"/>
          <p:nvPr/>
        </p:nvSpPr>
        <p:spPr>
          <a:xfrm>
            <a:off x="7146036" y="5199888"/>
            <a:ext cx="41925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RED   </a:t>
            </a:r>
            <a:pPr indent="0" marL="0">
              <a:buNone/>
            </a:pPr>
            <a:r>
              <a:rPr lang="en-US" sz="11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HR director</a:t>
            </a:r>
            <a:endParaRPr lang="en-US" sz="1050" dirty="0"/>
          </a:p>
        </p:txBody>
      </p:sp>
      <p:sp>
        <p:nvSpPr>
          <p:cNvPr id="48" name="Text 44"/>
          <p:cNvSpPr txBox="1"/>
          <p:nvPr/>
        </p:nvSpPr>
        <p:spPr>
          <a:xfrm>
            <a:off x="7146036" y="5474208"/>
            <a:ext cx="4192524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Fairmont is seven hires short; Ridgeway cannot move until they start.</a:t>
            </a:r>
            <a:endParaRPr lang="en-US" sz="1300" dirty="0"/>
          </a:p>
        </p:txBody>
      </p:sp>
      <p:sp>
        <p:nvSpPr>
          <p:cNvPr id="49" name="Text 45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Transition PMO tracker (fictional)</a:t>
            </a:r>
            <a:endParaRPr lang="en-US" sz="1000" dirty="0"/>
          </a:p>
        </p:txBody>
      </p:sp>
      <p:sp>
        <p:nvSpPr>
          <p:cNvPr id="50" name="Text 46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51" name="Text 47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Consolidation turns three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depots into two full ones.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67512" y="2279904"/>
            <a:ext cx="4283964" cy="38404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2376" y="2279904"/>
            <a:ext cx="4174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nine depots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500116" y="2279904"/>
            <a:ext cx="4283964" cy="38404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554980" y="2279904"/>
            <a:ext cx="4174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six depots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22799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4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" y="2810256"/>
            <a:ext cx="4283964" cy="607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96112" y="2810256"/>
            <a:ext cx="3826764" cy="60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depots at 34–39% utilisation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00116" y="2810256"/>
            <a:ext cx="4283964" cy="607568"/>
          </a:xfrm>
          <a:prstGeom prst="rect">
            <a:avLst/>
          </a:prstGeom>
          <a:solidFill>
            <a:srgbClr val="E3EFEC"/>
          </a:solidFill>
          <a:ln/>
        </p:spPr>
      </p:sp>
      <p:sp>
        <p:nvSpPr>
          <p:cNvPr id="13" name="Shape 11"/>
          <p:cNvSpPr/>
          <p:nvPr/>
        </p:nvSpPr>
        <p:spPr>
          <a:xfrm>
            <a:off x="5500116" y="2810256"/>
            <a:ext cx="82296" cy="6075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56148" y="2810256"/>
            <a:ext cx="3826764" cy="60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receiving depots at 74–77%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42916" y="3114040"/>
            <a:ext cx="365760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9966960" y="2810256"/>
            <a:ext cx="1554480" cy="60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+38 pts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67512" y="3527552"/>
            <a:ext cx="4283964" cy="607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96112" y="3527552"/>
            <a:ext cx="3826764" cy="60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$5.2M fixed cost for 14% of volume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00116" y="3527552"/>
            <a:ext cx="4283964" cy="607568"/>
          </a:xfrm>
          <a:prstGeom prst="rect">
            <a:avLst/>
          </a:prstGeom>
          <a:solidFill>
            <a:srgbClr val="E3EFEC"/>
          </a:solidFill>
          <a:ln/>
        </p:spPr>
      </p:sp>
      <p:sp>
        <p:nvSpPr>
          <p:cNvPr id="20" name="Shape 18"/>
          <p:cNvSpPr/>
          <p:nvPr/>
        </p:nvSpPr>
        <p:spPr>
          <a:xfrm>
            <a:off x="5500116" y="3527552"/>
            <a:ext cx="82296" cy="6075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56148" y="3527552"/>
            <a:ext cx="3826764" cy="60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$1.1M added cost at the receiving sites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42916" y="3831336"/>
            <a:ext cx="365760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9966960" y="3527552"/>
            <a:ext cx="1554480" cy="60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−$4.1M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67512" y="4244848"/>
            <a:ext cx="4283964" cy="607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96112" y="4244848"/>
            <a:ext cx="3826764" cy="60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for 100% of customers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500116" y="4244848"/>
            <a:ext cx="4283964" cy="607568"/>
          </a:xfrm>
          <a:prstGeom prst="rect">
            <a:avLst/>
          </a:prstGeom>
          <a:solidFill>
            <a:srgbClr val="E3EFEC"/>
          </a:solidFill>
          <a:ln/>
        </p:spPr>
      </p:sp>
      <p:sp>
        <p:nvSpPr>
          <p:cNvPr id="27" name="Shape 25"/>
          <p:cNvSpPr/>
          <p:nvPr/>
        </p:nvSpPr>
        <p:spPr>
          <a:xfrm>
            <a:off x="5500116" y="4244848"/>
            <a:ext cx="82296" cy="6075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756148" y="4244848"/>
            <a:ext cx="3826764" cy="60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for 99.2% of customers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42916" y="4548632"/>
            <a:ext cx="365760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9966960" y="4244848"/>
            <a:ext cx="1554480" cy="60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−17 cust.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67512" y="5090160"/>
            <a:ext cx="5289804" cy="96316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2" name="Shape 30"/>
          <p:cNvSpPr/>
          <p:nvPr/>
        </p:nvSpPr>
        <p:spPr>
          <a:xfrm>
            <a:off x="667512" y="5090160"/>
            <a:ext cx="82296" cy="963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Shape 31"/>
          <p:cNvSpPr/>
          <p:nvPr/>
        </p:nvSpPr>
        <p:spPr>
          <a:xfrm>
            <a:off x="923544" y="533400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4" name="Image 0" descr="/home/claude/skills/firstchair-consulting-deck/assets/icons/white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151" y="5438607"/>
            <a:ext cx="266273" cy="266273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1581912" y="5199888"/>
            <a:ext cx="41925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  </a:t>
            </a:r>
            <a:pPr indent="0" marL="0">
              <a:buNone/>
            </a:pPr>
            <a:r>
              <a:rPr lang="en-US" sz="1100" b="1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 ·  Oct 15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1581912" y="5474208"/>
            <a:ext cx="4192524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move of three depots into two.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231636" y="5090160"/>
            <a:ext cx="5289804" cy="9631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231636" y="5090160"/>
            <a:ext cx="82296" cy="96316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9" name="Shape 36"/>
          <p:cNvSpPr/>
          <p:nvPr/>
        </p:nvSpPr>
        <p:spPr>
          <a:xfrm>
            <a:off x="6487668" y="5334000"/>
            <a:ext cx="475488" cy="475488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40" name="Image 1" descr="/home/claude/skills/firstchair-consulting-deck/assets/icons/white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275" y="5438607"/>
            <a:ext cx="266273" cy="266273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7146036" y="5199888"/>
            <a:ext cx="41925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  </a:t>
            </a:r>
            <a:pPr indent="0" marL="0">
              <a:buNone/>
            </a:pPr>
            <a:r>
              <a:rPr lang="en-US" sz="11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Ops director</a:t>
            </a:r>
            <a:endParaRPr lang="en-US" sz="1050" dirty="0"/>
          </a:p>
        </p:txBody>
      </p:sp>
      <p:sp>
        <p:nvSpPr>
          <p:cNvPr id="42" name="Text 38"/>
          <p:cNvSpPr txBox="1"/>
          <p:nvPr/>
        </p:nvSpPr>
        <p:spPr>
          <a:xfrm>
            <a:off x="7146036" y="5474208"/>
            <a:ext cx="4192524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Peak-week capacity at Easton is tight.  Mitigation: December dry run.</a:t>
            </a:r>
            <a:endParaRPr lang="en-US" sz="1300" dirty="0"/>
          </a:p>
        </p:txBody>
      </p:sp>
      <p:sp>
        <p:nvSpPr>
          <p:cNvPr id="43" name="Text 39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Route model v3 (fictional)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IN ONE SLIDE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three underused depots now, before</a:t>
            </a:r>
            <a:endParaRPr lang="en-US" sz="3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Oakmont lease renews at a 12% step-up.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67512" y="2097024"/>
            <a:ext cx="10853928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2097024"/>
            <a:ext cx="82296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941832" y="2261616"/>
            <a:ext cx="493776" cy="493776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8" name="Image 0" descr="/home/claude/skills/firstchair-consulting-deck/assets/icons/navy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463" y="2370247"/>
            <a:ext cx="276515" cy="27651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81912" y="209702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136392" y="2097024"/>
            <a:ext cx="7927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runs nine depots sized for a network that had the Carver contract.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67512" y="3048000"/>
            <a:ext cx="10853928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7512" y="3048000"/>
            <a:ext cx="82296" cy="822960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13" name="Shape 10"/>
          <p:cNvSpPr/>
          <p:nvPr/>
        </p:nvSpPr>
        <p:spPr>
          <a:xfrm>
            <a:off x="941832" y="3212592"/>
            <a:ext cx="493776" cy="493776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14" name="Image 1" descr="/home/claude/skills/firstchair-consulting-deck/assets/icons/navy/mount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463" y="3321223"/>
            <a:ext cx="276515" cy="27651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81912" y="3048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136392" y="3048000"/>
            <a:ext cx="7927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Carver ended; three depots have run below 40% utilisation for six quarters, and the Oakmont lease renews in March.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67512" y="3998976"/>
            <a:ext cx="10853928" cy="82296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8" name="Shape 14"/>
          <p:cNvSpPr/>
          <p:nvPr/>
        </p:nvSpPr>
        <p:spPr>
          <a:xfrm>
            <a:off x="667512" y="3998976"/>
            <a:ext cx="82296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5"/>
          <p:cNvSpPr/>
          <p:nvPr/>
        </p:nvSpPr>
        <p:spPr>
          <a:xfrm>
            <a:off x="941832" y="4163568"/>
            <a:ext cx="493776" cy="49377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0" name="Image 2" descr="/home/claude/skills/firstchair-consulting-deck/assets/icons/white/light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63" y="4272199"/>
            <a:ext cx="276515" cy="27651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581912" y="3998976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3136392" y="3998976"/>
            <a:ext cx="7927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their volume to Easton and Fairmont over nine months: $4.1M a year saved, next-day kept for 99.2% of customers.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667512" y="5288280"/>
            <a:ext cx="5289804" cy="76504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24" name="Shape 19"/>
          <p:cNvSpPr/>
          <p:nvPr/>
        </p:nvSpPr>
        <p:spPr>
          <a:xfrm>
            <a:off x="667512" y="5288280"/>
            <a:ext cx="82296" cy="765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0"/>
          <p:cNvSpPr/>
          <p:nvPr/>
        </p:nvSpPr>
        <p:spPr>
          <a:xfrm>
            <a:off x="923544" y="543306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6" name="Image 3" descr="/home/claude/skills/firstchair-consulting-deck/assets/icons/white/fl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151" y="5537667"/>
            <a:ext cx="266273" cy="266273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581912" y="5398008"/>
            <a:ext cx="41925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  </a:t>
            </a:r>
            <a:pPr indent="0" marL="0">
              <a:buNone/>
            </a:pPr>
            <a:r>
              <a:rPr lang="en-US" sz="1100" b="1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 ·  Oct 15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1581912" y="5672328"/>
            <a:ext cx="4192524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plan and the $2.6M budget.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6231636" y="5288280"/>
            <a:ext cx="5289804" cy="765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231636" y="5288280"/>
            <a:ext cx="82296" cy="765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Shape 25"/>
          <p:cNvSpPr/>
          <p:nvPr/>
        </p:nvSpPr>
        <p:spPr>
          <a:xfrm>
            <a:off x="6487668" y="5433060"/>
            <a:ext cx="475488" cy="475488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2" name="Image 4" descr="/home/claude/skills/firstchair-consulting-deck/assets/icons/white/warn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275" y="5537667"/>
            <a:ext cx="266273" cy="266273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146036" y="5398008"/>
            <a:ext cx="41925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  </a:t>
            </a:r>
            <a:pPr indent="0" marL="0">
              <a:buNone/>
            </a:pPr>
            <a:r>
              <a:rPr lang="en-US" sz="11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HR director</a:t>
            </a:r>
            <a:endParaRPr lang="en-US" sz="1050" dirty="0"/>
          </a:p>
        </p:txBody>
      </p:sp>
      <p:sp>
        <p:nvSpPr>
          <p:cNvPr id="34" name="Text 27"/>
          <p:cNvSpPr txBox="1"/>
          <p:nvPr/>
        </p:nvSpPr>
        <p:spPr>
          <a:xfrm>
            <a:off x="7146036" y="5672328"/>
            <a:ext cx="4192524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Ridgeway union consultation could add four months.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Halvard depot P&amp;L FY25; property schedule (fictional)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risks, each with an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 and a mitigation.</a:t>
            </a:r>
            <a:endParaRPr lang="en-US" sz="40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2279904"/>
          <a:ext cx="10853928" cy="914400"/>
        </p:xfrm>
        <a:graphic>
          <a:graphicData uri="http://schemas.openxmlformats.org/drawingml/2006/table">
            <a:tbl>
              <a:tblPr/>
              <a:tblGrid>
                <a:gridCol w="3578218"/>
                <a:gridCol w="1312013"/>
                <a:gridCol w="1669835"/>
                <a:gridCol w="429386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consultation at Ridgeway extends beyond four months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director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informal engagement now; sequence Oakmont and Brookline first so savings begin regardless.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Easton peak-week capacity is tighter than modelled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director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a peak week in December before committing; Fairmont takes overflow.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Brookline sublet market softens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penalty already in the $2.6M; sublet is upside only.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1737360"/>
            <a:ext cx="10853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121408"/>
            <a:ext cx="10853928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month of delay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costs $340,000.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3834384"/>
            <a:ext cx="10853928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sites lose $4.1M a year against the consolidated network. Oakmont's lease renews in March at a 12% step-up; missing it adds two years to the exit.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5669280"/>
            <a:ext cx="1085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gets cheaper by waiting.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DEPOT MANAGERS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receiving sites need two things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their managers this quarter.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67512" y="2279904"/>
            <a:ext cx="6078200" cy="2277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2279904"/>
            <a:ext cx="82296" cy="22778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8992" y="2554224"/>
            <a:ext cx="534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Easton and Fairmont managers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2883408"/>
            <a:ext cx="5346680" cy="671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the December peak-week dry run at full volume.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124712" y="3692144"/>
            <a:ext cx="52552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last test the model has not passed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us whether Fairmont needs overflow cover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20032" y="2279904"/>
            <a:ext cx="4501408" cy="82296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76064" y="2462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797272" y="2481072"/>
            <a:ext cx="3541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the dry-run week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97272" y="2810256"/>
            <a:ext cx="354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Dec 8, both sites, full shift pattern.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20032" y="3304032"/>
            <a:ext cx="4501408" cy="82296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76064" y="3486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797272" y="3505200"/>
            <a:ext cx="3541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friction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97272" y="3834384"/>
            <a:ext cx="354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log of anything the model got wrong.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7512" y="4832096"/>
            <a:ext cx="10853928" cy="87172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9" name="Shape 17"/>
          <p:cNvSpPr/>
          <p:nvPr/>
        </p:nvSpPr>
        <p:spPr>
          <a:xfrm>
            <a:off x="667512" y="4832096"/>
            <a:ext cx="10853928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24712" y="5014976"/>
            <a:ext cx="9939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" y="5271008"/>
            <a:ext cx="993952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 the dry run and the Ridgeway move can start in February.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approvals to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in November.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67512" y="2279904"/>
            <a:ext cx="3435096" cy="18882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2279904"/>
            <a:ext cx="3435096" cy="8229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2581656"/>
            <a:ext cx="2977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892552"/>
            <a:ext cx="2977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plan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276600"/>
            <a:ext cx="29778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Ridgeway, Brookline and Oakmont; Easton and Fairmont receive.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76928" y="2279904"/>
            <a:ext cx="3435096" cy="18882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6928" y="2279904"/>
            <a:ext cx="3435096" cy="8229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05528" y="2581656"/>
            <a:ext cx="2977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05528" y="2892552"/>
            <a:ext cx="2977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$2.6M transition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05528" y="3276600"/>
            <a:ext cx="29778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in three tranches, one per phase.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86344" y="2279904"/>
            <a:ext cx="3435096" cy="18882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86344" y="2279904"/>
            <a:ext cx="3435096" cy="8229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14944" y="2581656"/>
            <a:ext cx="2977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14944" y="2892552"/>
            <a:ext cx="2977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union engagement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314944" y="3276600"/>
            <a:ext cx="29778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engagement at Ridgeway from Nov 1.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67512" y="4442460"/>
            <a:ext cx="10853928" cy="603504"/>
          </a:xfrm>
          <a:prstGeom prst="rect">
            <a:avLst/>
          </a:prstGeom>
          <a:solidFill>
            <a:srgbClr val="E3EF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4442460"/>
            <a:ext cx="82296" cy="6035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24712" y="4442460"/>
            <a:ext cx="10030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these three and the first saving lands in month four.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3" name="Shape 1"/>
          <p:cNvSpPr/>
          <p:nvPr/>
        </p:nvSpPr>
        <p:spPr>
          <a:xfrm>
            <a:off x="3108960" y="0"/>
            <a:ext cx="6400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37744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/home/claude/skills/firstchair-consulting-deck/assets/icons/white/arch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679192"/>
            <a:ext cx="768096" cy="7680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840480" y="20116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840480" y="2395728"/>
            <a:ext cx="76809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Supporting detail.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3840480" y="6455664"/>
            <a:ext cx="7068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cited in this deck.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96596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1965960"/>
            <a:ext cx="10442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· Depot P&amp;L FY25 · Jul 2026 · internal (fictional)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231343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2313432"/>
            <a:ext cx="10442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· Route model v3 · Aug 2026 · internal (fictional)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pattern catalogue  ·  Draft — for discussion  ·  v2.0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the consulting-deck skill · First Chair Consulting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First Chair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Pattern catalogue</dc:title>
  <dc:subject>firstchair-consulting-deck render style=v2 brief=5533793bc34a00a6 ledger=none storyboard=none</dc:subject>
  <dc:creator/>
  <cp:lastModifiedBy/>
  <cp:revision>1</cp:revision>
  <dcterms:created xsi:type="dcterms:W3CDTF">2026-09-24T16:49:42Z</dcterms:created>
  <dcterms:modified xsi:type="dcterms:W3CDTF">2026-09-24T16:49:42Z</dcterms:modified>
</cp:coreProperties>
</file>